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y="5143500" cx="9144000"/>
  <p:notesSz cx="6858000" cy="9144000"/>
  <p:embeddedFontLst>
    <p:embeddedFont>
      <p:font typeface="Proxima Nova"/>
      <p:regular r:id="rId47"/>
      <p:bold r:id="rId48"/>
      <p:italic r:id="rId49"/>
      <p:boldItalic r:id="rId50"/>
    </p:embeddedFont>
    <p:embeddedFont>
      <p:font typeface="PT Sans Narrow"/>
      <p:regular r:id="rId51"/>
      <p:bold r:id="rId52"/>
    </p:embeddedFont>
    <p:embeddedFont>
      <p:font typeface="Alfa Slab One"/>
      <p:regular r:id="rId53"/>
    </p:embeddedFont>
    <p:embeddedFont>
      <p:font typeface="Open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jQhpvXEdJeKeIshFwTa1TzlBX5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ProximaNova-bold.fntdata"/><Relationship Id="rId47" Type="http://schemas.openxmlformats.org/officeDocument/2006/relationships/font" Target="fonts/ProximaNova-regular.fntdata"/><Relationship Id="rId49" Type="http://schemas.openxmlformats.org/officeDocument/2006/relationships/font" Target="fonts/ProximaNova-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PTSansNarrow-regular.fntdata"/><Relationship Id="rId50" Type="http://schemas.openxmlformats.org/officeDocument/2006/relationships/font" Target="fonts/ProximaNova-boldItalic.fntdata"/><Relationship Id="rId53" Type="http://schemas.openxmlformats.org/officeDocument/2006/relationships/font" Target="fonts/AlfaSlabOne-regular.fntdata"/><Relationship Id="rId52" Type="http://schemas.openxmlformats.org/officeDocument/2006/relationships/font" Target="fonts/PTSansNarrow-bold.fntdata"/><Relationship Id="rId11" Type="http://schemas.openxmlformats.org/officeDocument/2006/relationships/slide" Target="slides/slide7.xml"/><Relationship Id="rId55" Type="http://schemas.openxmlformats.org/officeDocument/2006/relationships/font" Target="fonts/OpenSans-bold.fntdata"/><Relationship Id="rId10" Type="http://schemas.openxmlformats.org/officeDocument/2006/relationships/slide" Target="slides/slide6.xml"/><Relationship Id="rId54" Type="http://schemas.openxmlformats.org/officeDocument/2006/relationships/font" Target="fonts/OpenSans-regular.fntdata"/><Relationship Id="rId13" Type="http://schemas.openxmlformats.org/officeDocument/2006/relationships/slide" Target="slides/slide9.xml"/><Relationship Id="rId57" Type="http://schemas.openxmlformats.org/officeDocument/2006/relationships/font" Target="fonts/OpenSans-boldItalic.fntdata"/><Relationship Id="rId12" Type="http://schemas.openxmlformats.org/officeDocument/2006/relationships/slide" Target="slides/slide8.xml"/><Relationship Id="rId56" Type="http://schemas.openxmlformats.org/officeDocument/2006/relationships/font" Target="fonts/OpenSans-italic.fntdata"/><Relationship Id="rId15" Type="http://schemas.openxmlformats.org/officeDocument/2006/relationships/slide" Target="slides/slide11.xml"/><Relationship Id="rId14" Type="http://schemas.openxmlformats.org/officeDocument/2006/relationships/slide" Target="slides/slide10.xml"/><Relationship Id="rId58"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a45def25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g3a45def257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docker network create wordpress</a:t>
            </a:r>
            <a:endParaRPr/>
          </a:p>
          <a:p>
            <a:pPr indent="0" lvl="0" marL="0" rtl="0" algn="l">
              <a:lnSpc>
                <a:spcPct val="100000"/>
              </a:lnSpc>
              <a:spcBef>
                <a:spcPts val="0"/>
              </a:spcBef>
              <a:spcAft>
                <a:spcPts val="0"/>
              </a:spcAft>
              <a:buSzPts val="1100"/>
              <a:buNone/>
            </a:pPr>
            <a:r>
              <a:rPr lang="en"/>
              <a:t>docker container run --name mysql-container --rm --network wordpress -e MYSQL_ROOT_PASSWORD=wordpress -d mysql:5.7</a:t>
            </a:r>
            <a:br>
              <a:rPr lang="en"/>
            </a:br>
            <a:r>
              <a:rPr lang="en"/>
              <a:t>docker container run --name wordpress-container --rm --network wordpress -e WORDPRESS_DB_HOST=mysql-container -e WORDPRESS_DB_PASSWORD=wordpress -p 8090:80 -d wordpress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https://github.com/praqma-training/docker-katas/blob/master/labs/7-building-an-image.md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https://github.com/praqma-training/docker-katas/blob/master/labs/7-building-an-image.md</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24e871ed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324e871edc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https://github.com/praqma-training/docker-katas/blob/master/labs/7-building-an-image.md</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24e871edc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g324e871edc3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https://github.com/praqma-training/docker-katas/blob/master/labs/7-building-an-image.md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296ff3373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296ff3373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24e871edc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324e871edc3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24e871edc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324e871edc3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https://github.com/praqma-training/docker-katas/blob/master/labs/7-building-an-image.md</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g3a3ac74d8df_0_4"/>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g3a3ac74d8df_0_4"/>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2" name="Google Shape;12;g3a3ac74d8df_0_4"/>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g3a3ac74d8df_0_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g3a3ac74d8df_0_9"/>
          <p:cNvSpPr txBox="1"/>
          <p:nvPr>
            <p:ph type="title"/>
          </p:nvPr>
        </p:nvSpPr>
        <p:spPr>
          <a:xfrm>
            <a:off x="311700" y="2480550"/>
            <a:ext cx="8114400" cy="24459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6800"/>
              <a:buNone/>
              <a:defRPr sz="6800">
                <a:solidFill>
                  <a:schemeClr val="lt1"/>
                </a:solidFill>
              </a:defRPr>
            </a:lvl1pPr>
            <a:lvl2pPr lvl="1" algn="l">
              <a:lnSpc>
                <a:spcPct val="100000"/>
              </a:lnSpc>
              <a:spcBef>
                <a:spcPts val="0"/>
              </a:spcBef>
              <a:spcAft>
                <a:spcPts val="0"/>
              </a:spcAft>
              <a:buClr>
                <a:schemeClr val="lt1"/>
              </a:buClr>
              <a:buSzPts val="6800"/>
              <a:buNone/>
              <a:defRPr sz="6800">
                <a:solidFill>
                  <a:schemeClr val="lt1"/>
                </a:solidFill>
              </a:defRPr>
            </a:lvl2pPr>
            <a:lvl3pPr lvl="2" algn="l">
              <a:lnSpc>
                <a:spcPct val="100000"/>
              </a:lnSpc>
              <a:spcBef>
                <a:spcPts val="0"/>
              </a:spcBef>
              <a:spcAft>
                <a:spcPts val="0"/>
              </a:spcAft>
              <a:buClr>
                <a:schemeClr val="lt1"/>
              </a:buClr>
              <a:buSzPts val="6800"/>
              <a:buNone/>
              <a:defRPr sz="6800">
                <a:solidFill>
                  <a:schemeClr val="lt1"/>
                </a:solidFill>
              </a:defRPr>
            </a:lvl3pPr>
            <a:lvl4pPr lvl="3" algn="l">
              <a:lnSpc>
                <a:spcPct val="100000"/>
              </a:lnSpc>
              <a:spcBef>
                <a:spcPts val="0"/>
              </a:spcBef>
              <a:spcAft>
                <a:spcPts val="0"/>
              </a:spcAft>
              <a:buClr>
                <a:schemeClr val="lt1"/>
              </a:buClr>
              <a:buSzPts val="6800"/>
              <a:buNone/>
              <a:defRPr sz="6800">
                <a:solidFill>
                  <a:schemeClr val="lt1"/>
                </a:solidFill>
              </a:defRPr>
            </a:lvl4pPr>
            <a:lvl5pPr lvl="4" algn="l">
              <a:lnSpc>
                <a:spcPct val="100000"/>
              </a:lnSpc>
              <a:spcBef>
                <a:spcPts val="0"/>
              </a:spcBef>
              <a:spcAft>
                <a:spcPts val="0"/>
              </a:spcAft>
              <a:buClr>
                <a:schemeClr val="lt1"/>
              </a:buClr>
              <a:buSzPts val="6800"/>
              <a:buNone/>
              <a:defRPr sz="6800">
                <a:solidFill>
                  <a:schemeClr val="lt1"/>
                </a:solidFill>
              </a:defRPr>
            </a:lvl5pPr>
            <a:lvl6pPr lvl="5" algn="l">
              <a:lnSpc>
                <a:spcPct val="100000"/>
              </a:lnSpc>
              <a:spcBef>
                <a:spcPts val="0"/>
              </a:spcBef>
              <a:spcAft>
                <a:spcPts val="0"/>
              </a:spcAft>
              <a:buClr>
                <a:schemeClr val="lt1"/>
              </a:buClr>
              <a:buSzPts val="6800"/>
              <a:buNone/>
              <a:defRPr sz="6800">
                <a:solidFill>
                  <a:schemeClr val="lt1"/>
                </a:solidFill>
              </a:defRPr>
            </a:lvl6pPr>
            <a:lvl7pPr lvl="6" algn="l">
              <a:lnSpc>
                <a:spcPct val="100000"/>
              </a:lnSpc>
              <a:spcBef>
                <a:spcPts val="0"/>
              </a:spcBef>
              <a:spcAft>
                <a:spcPts val="0"/>
              </a:spcAft>
              <a:buClr>
                <a:schemeClr val="lt1"/>
              </a:buClr>
              <a:buSzPts val="6800"/>
              <a:buNone/>
              <a:defRPr sz="6800">
                <a:solidFill>
                  <a:schemeClr val="lt1"/>
                </a:solidFill>
              </a:defRPr>
            </a:lvl7pPr>
            <a:lvl8pPr lvl="7" algn="l">
              <a:lnSpc>
                <a:spcPct val="100000"/>
              </a:lnSpc>
              <a:spcBef>
                <a:spcPts val="0"/>
              </a:spcBef>
              <a:spcAft>
                <a:spcPts val="0"/>
              </a:spcAft>
              <a:buClr>
                <a:schemeClr val="lt1"/>
              </a:buClr>
              <a:buSzPts val="6800"/>
              <a:buNone/>
              <a:defRPr sz="6800">
                <a:solidFill>
                  <a:schemeClr val="lt1"/>
                </a:solidFill>
              </a:defRPr>
            </a:lvl8pPr>
            <a:lvl9pPr lvl="8" algn="l">
              <a:lnSpc>
                <a:spcPct val="100000"/>
              </a:lnSpc>
              <a:spcBef>
                <a:spcPts val="0"/>
              </a:spcBef>
              <a:spcAft>
                <a:spcPts val="0"/>
              </a:spcAft>
              <a:buClr>
                <a:schemeClr val="lt1"/>
              </a:buClr>
              <a:buSzPts val="6800"/>
              <a:buNone/>
              <a:defRPr sz="6800">
                <a:solidFill>
                  <a:schemeClr val="lt1"/>
                </a:solidFill>
              </a:defRPr>
            </a:lvl9pPr>
          </a:lstStyle>
          <a:p/>
        </p:txBody>
      </p:sp>
      <p:sp>
        <p:nvSpPr>
          <p:cNvPr id="16" name="Google Shape;16;g3a3ac74d8df_0_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g3a3ac74d8df_0_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g3a3ac74d8df_0_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g3a3ac74d8df_0_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g3a3ac74d8df_0_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 name="Google Shape;23;g3a3ac74d8df_0_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g3a3ac74d8df_0_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g3a3ac74d8df_0_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g3a3ac74d8df_0_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 name="Google Shape;28;g3a3ac74d8df_0_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g3a3ac74d8df_0_24"/>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g3a3ac74d8df_0_24"/>
          <p:cNvSpPr txBox="1"/>
          <p:nvPr>
            <p:ph idx="1" type="body"/>
          </p:nvPr>
        </p:nvSpPr>
        <p:spPr>
          <a:xfrm>
            <a:off x="311700" y="1490875"/>
            <a:ext cx="2808000" cy="30780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g3a3ac74d8df_0_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g3a3ac74d8df_0_28"/>
          <p:cNvSpPr txBox="1"/>
          <p:nvPr>
            <p:ph type="title"/>
          </p:nvPr>
        </p:nvSpPr>
        <p:spPr>
          <a:xfrm>
            <a:off x="490250" y="526350"/>
            <a:ext cx="5683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35" name="Google Shape;35;g3a3ac74d8df_0_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g3a3ac74d8df_0_31"/>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8" name="Google Shape;38;g3a3ac74d8df_0_3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g3a3ac74d8df_0_31"/>
          <p:cNvSpPr txBox="1"/>
          <p:nvPr>
            <p:ph type="title"/>
          </p:nvPr>
        </p:nvSpPr>
        <p:spPr>
          <a:xfrm>
            <a:off x="265500" y="1375599"/>
            <a:ext cx="4045200" cy="1551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40" name="Google Shape;40;g3a3ac74d8df_0_31"/>
          <p:cNvSpPr txBox="1"/>
          <p:nvPr>
            <p:ph idx="1" type="subTitle"/>
          </p:nvPr>
        </p:nvSpPr>
        <p:spPr>
          <a:xfrm>
            <a:off x="265500" y="2981125"/>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g3a3ac74d8df_0_3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2" name="Google Shape;42;g3a3ac74d8df_0_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g3a3ac74d8df_0_38"/>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g3a3ac74d8df_0_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g3a3ac74d8df_0_41"/>
          <p:cNvSpPr txBox="1"/>
          <p:nvPr>
            <p:ph hasCustomPrompt="1" type="title"/>
          </p:nvPr>
        </p:nvSpPr>
        <p:spPr>
          <a:xfrm>
            <a:off x="311700" y="1167925"/>
            <a:ext cx="8520600" cy="1980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1"/>
              </a:buClr>
              <a:buSzPts val="11000"/>
              <a:buNone/>
              <a:defRPr sz="11000">
                <a:solidFill>
                  <a:schemeClr val="dk1"/>
                </a:solidFill>
              </a:defRPr>
            </a:lvl1pPr>
            <a:lvl2pPr lvl="1" algn="ctr">
              <a:lnSpc>
                <a:spcPct val="100000"/>
              </a:lnSpc>
              <a:spcBef>
                <a:spcPts val="0"/>
              </a:spcBef>
              <a:spcAft>
                <a:spcPts val="0"/>
              </a:spcAft>
              <a:buClr>
                <a:schemeClr val="dk1"/>
              </a:buClr>
              <a:buSzPts val="11000"/>
              <a:buNone/>
              <a:defRPr sz="11000">
                <a:solidFill>
                  <a:schemeClr val="dk1"/>
                </a:solidFill>
              </a:defRPr>
            </a:lvl2pPr>
            <a:lvl3pPr lvl="2" algn="ctr">
              <a:lnSpc>
                <a:spcPct val="100000"/>
              </a:lnSpc>
              <a:spcBef>
                <a:spcPts val="0"/>
              </a:spcBef>
              <a:spcAft>
                <a:spcPts val="0"/>
              </a:spcAft>
              <a:buClr>
                <a:schemeClr val="dk1"/>
              </a:buClr>
              <a:buSzPts val="11000"/>
              <a:buNone/>
              <a:defRPr sz="11000">
                <a:solidFill>
                  <a:schemeClr val="dk1"/>
                </a:solidFill>
              </a:defRPr>
            </a:lvl3pPr>
            <a:lvl4pPr lvl="3" algn="ctr">
              <a:lnSpc>
                <a:spcPct val="100000"/>
              </a:lnSpc>
              <a:spcBef>
                <a:spcPts val="0"/>
              </a:spcBef>
              <a:spcAft>
                <a:spcPts val="0"/>
              </a:spcAft>
              <a:buClr>
                <a:schemeClr val="dk1"/>
              </a:buClr>
              <a:buSzPts val="11000"/>
              <a:buNone/>
              <a:defRPr sz="11000">
                <a:solidFill>
                  <a:schemeClr val="dk1"/>
                </a:solidFill>
              </a:defRPr>
            </a:lvl4pPr>
            <a:lvl5pPr lvl="4" algn="ctr">
              <a:lnSpc>
                <a:spcPct val="100000"/>
              </a:lnSpc>
              <a:spcBef>
                <a:spcPts val="0"/>
              </a:spcBef>
              <a:spcAft>
                <a:spcPts val="0"/>
              </a:spcAft>
              <a:buClr>
                <a:schemeClr val="dk1"/>
              </a:buClr>
              <a:buSzPts val="11000"/>
              <a:buNone/>
              <a:defRPr sz="11000">
                <a:solidFill>
                  <a:schemeClr val="dk1"/>
                </a:solidFill>
              </a:defRPr>
            </a:lvl5pPr>
            <a:lvl6pPr lvl="5" algn="ctr">
              <a:lnSpc>
                <a:spcPct val="100000"/>
              </a:lnSpc>
              <a:spcBef>
                <a:spcPts val="0"/>
              </a:spcBef>
              <a:spcAft>
                <a:spcPts val="0"/>
              </a:spcAft>
              <a:buClr>
                <a:schemeClr val="dk1"/>
              </a:buClr>
              <a:buSzPts val="11000"/>
              <a:buNone/>
              <a:defRPr sz="11000">
                <a:solidFill>
                  <a:schemeClr val="dk1"/>
                </a:solidFill>
              </a:defRPr>
            </a:lvl6pPr>
            <a:lvl7pPr lvl="6" algn="ctr">
              <a:lnSpc>
                <a:spcPct val="100000"/>
              </a:lnSpc>
              <a:spcBef>
                <a:spcPts val="0"/>
              </a:spcBef>
              <a:spcAft>
                <a:spcPts val="0"/>
              </a:spcAft>
              <a:buClr>
                <a:schemeClr val="dk1"/>
              </a:buClr>
              <a:buSzPts val="11000"/>
              <a:buNone/>
              <a:defRPr sz="11000">
                <a:solidFill>
                  <a:schemeClr val="dk1"/>
                </a:solidFill>
              </a:defRPr>
            </a:lvl7pPr>
            <a:lvl8pPr lvl="7" algn="ctr">
              <a:lnSpc>
                <a:spcPct val="100000"/>
              </a:lnSpc>
              <a:spcBef>
                <a:spcPts val="0"/>
              </a:spcBef>
              <a:spcAft>
                <a:spcPts val="0"/>
              </a:spcAft>
              <a:buClr>
                <a:schemeClr val="dk1"/>
              </a:buClr>
              <a:buSzPts val="11000"/>
              <a:buNone/>
              <a:defRPr sz="11000">
                <a:solidFill>
                  <a:schemeClr val="dk1"/>
                </a:solidFill>
              </a:defRPr>
            </a:lvl8pPr>
            <a:lvl9pPr lvl="8" algn="ctr">
              <a:lnSpc>
                <a:spcPct val="100000"/>
              </a:lnSpc>
              <a:spcBef>
                <a:spcPts val="0"/>
              </a:spcBef>
              <a:spcAft>
                <a:spcPts val="0"/>
              </a:spcAft>
              <a:buClr>
                <a:schemeClr val="dk1"/>
              </a:buClr>
              <a:buSzPts val="11000"/>
              <a:buNone/>
              <a:defRPr sz="11000">
                <a:solidFill>
                  <a:schemeClr val="dk1"/>
                </a:solidFill>
              </a:defRPr>
            </a:lvl9pPr>
          </a:lstStyle>
          <a:p>
            <a:r>
              <a:t>xx%</a:t>
            </a:r>
          </a:p>
        </p:txBody>
      </p:sp>
      <p:sp>
        <p:nvSpPr>
          <p:cNvPr id="48" name="Google Shape;48;g3a3ac74d8df_0_41"/>
          <p:cNvSpPr txBox="1"/>
          <p:nvPr>
            <p:ph idx="1" type="body"/>
          </p:nvPr>
        </p:nvSpPr>
        <p:spPr>
          <a:xfrm>
            <a:off x="311700" y="32242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g3a3ac74d8df_0_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g3a3ac74d8df_0_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g3a3ac74d8df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1pPr>
            <a:lvl2pPr lvl="1"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2pPr>
            <a:lvl3pPr lvl="2"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3pPr>
            <a:lvl4pPr lvl="3"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4pPr>
            <a:lvl5pPr lvl="4"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5pPr>
            <a:lvl6pPr lvl="5"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6pPr>
            <a:lvl7pPr lvl="6"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7pPr>
            <a:lvl8pPr lvl="7"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8pPr>
            <a:lvl9pPr lvl="8" marR="0" rtl="0" algn="l">
              <a:lnSpc>
                <a:spcPct val="100000"/>
              </a:lnSpc>
              <a:spcBef>
                <a:spcPts val="0"/>
              </a:spcBef>
              <a:spcAft>
                <a:spcPts val="0"/>
              </a:spcAft>
              <a:buClr>
                <a:schemeClr val="accent3"/>
              </a:buClr>
              <a:buSzPts val="3000"/>
              <a:buFont typeface="Alfa Slab One"/>
              <a:buNone/>
              <a:defRPr b="0" i="0" sz="3000" u="none" cap="none" strike="noStrike">
                <a:solidFill>
                  <a:schemeClr val="accent3"/>
                </a:solidFill>
                <a:latin typeface="Alfa Slab One"/>
                <a:ea typeface="Alfa Slab One"/>
                <a:cs typeface="Alfa Slab One"/>
                <a:sym typeface="Alfa Slab One"/>
              </a:defRPr>
            </a:lvl9pPr>
          </a:lstStyle>
          <a:p/>
        </p:txBody>
      </p:sp>
      <p:sp>
        <p:nvSpPr>
          <p:cNvPr id="7" name="Google Shape;7;g3a3ac74d8df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Proxima Nova"/>
              <a:buChar char="●"/>
              <a:defRPr b="0" i="0" sz="1800" u="none" cap="none" strike="noStrike">
                <a:solidFill>
                  <a:schemeClr val="dk2"/>
                </a:solidFill>
                <a:latin typeface="Proxima Nova"/>
                <a:ea typeface="Proxima Nova"/>
                <a:cs typeface="Proxima Nova"/>
                <a:sym typeface="Proxima Nova"/>
              </a:defRPr>
            </a:lvl1pPr>
            <a:lvl2pPr indent="-317500" lvl="1" marL="914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2pPr>
            <a:lvl3pPr indent="-317500" lvl="2" marL="1371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3pPr>
            <a:lvl4pPr indent="-317500" lvl="3" marL="1828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4pPr>
            <a:lvl5pPr indent="-317500" lvl="4" marL="22860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5pPr>
            <a:lvl6pPr indent="-317500" lvl="5" marL="27432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6pPr>
            <a:lvl7pPr indent="-317500" lvl="6" marL="32004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7pPr>
            <a:lvl8pPr indent="-317500" lvl="7" marL="36576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8pPr>
            <a:lvl9pPr indent="-317500" lvl="8" marL="4114800" marR="0" rtl="0" algn="l">
              <a:lnSpc>
                <a:spcPct val="115000"/>
              </a:lnSpc>
              <a:spcBef>
                <a:spcPts val="0"/>
              </a:spcBef>
              <a:spcAft>
                <a:spcPts val="0"/>
              </a:spcAft>
              <a:buClr>
                <a:schemeClr val="dk2"/>
              </a:buClr>
              <a:buSzPts val="1400"/>
              <a:buFont typeface="Proxima Nova"/>
              <a:buChar char="■"/>
              <a:defRPr b="0" i="0" sz="1400" u="none" cap="none" strike="noStrike">
                <a:solidFill>
                  <a:schemeClr val="dk2"/>
                </a:solidFill>
                <a:latin typeface="Proxima Nova"/>
                <a:ea typeface="Proxima Nova"/>
                <a:cs typeface="Proxima Nova"/>
                <a:sym typeface="Proxima Nova"/>
              </a:defRPr>
            </a:lvl9pPr>
          </a:lstStyle>
          <a:p/>
        </p:txBody>
      </p:sp>
      <p:sp>
        <p:nvSpPr>
          <p:cNvPr id="8" name="Google Shape;8;g3a3ac74d8df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www.nginx.com/product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1.p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github.com/eduardusatchev/docker-flask-redi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github.com/dockersamples/example-voting-app" TargetMode="External"/><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
          <p:cNvSpPr txBox="1"/>
          <p:nvPr>
            <p:ph type="ctrTitle"/>
          </p:nvPr>
        </p:nvSpPr>
        <p:spPr>
          <a:xfrm>
            <a:off x="311700" y="595975"/>
            <a:ext cx="8520600" cy="1957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400"/>
              <a:buNone/>
            </a:pPr>
            <a:r>
              <a:rPr lang="en"/>
              <a:t>DevOps Experts</a:t>
            </a:r>
            <a:endParaRPr/>
          </a:p>
        </p:txBody>
      </p:sp>
      <p:sp>
        <p:nvSpPr>
          <p:cNvPr id="57" name="Google Shape;57;p1"/>
          <p:cNvSpPr txBox="1"/>
          <p:nvPr>
            <p:ph idx="1" type="subTitle"/>
          </p:nvPr>
        </p:nvSpPr>
        <p:spPr>
          <a:xfrm>
            <a:off x="311700" y="3165823"/>
            <a:ext cx="8520600" cy="733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400"/>
              <a:buNone/>
            </a:pPr>
            <a:r>
              <a:rPr lang="en"/>
              <a:t>Class 2</a:t>
            </a:r>
            <a:endParaRPr/>
          </a:p>
          <a:p>
            <a:pPr indent="0" lvl="0" marL="0" rtl="0" algn="ctr">
              <a:lnSpc>
                <a:spcPct val="100000"/>
              </a:lnSpc>
              <a:spcBef>
                <a:spcPts val="0"/>
              </a:spcBef>
              <a:spcAft>
                <a:spcPts val="0"/>
              </a:spcAft>
              <a:buSzPts val="2400"/>
              <a:buNone/>
            </a:pPr>
            <a:r>
              <a:rPr lang="en" sz="1400"/>
              <a:t>Yariv Freifeld</a:t>
            </a:r>
            <a:endParaRPr sz="1400"/>
          </a:p>
          <a:p>
            <a:pPr indent="0" lvl="0" marL="0" rtl="0" algn="l">
              <a:lnSpc>
                <a:spcPct val="100000"/>
              </a:lnSpc>
              <a:spcBef>
                <a:spcPts val="0"/>
              </a:spcBef>
              <a:spcAft>
                <a:spcPts val="0"/>
              </a:spcAft>
              <a:buSzPts val="2400"/>
              <a:buNone/>
            </a:pPr>
            <a:r>
              <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514800" y="1348800"/>
            <a:ext cx="8114400" cy="2445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sz="3600"/>
              <a:t>Docker</a:t>
            </a:r>
            <a:endParaRPr sz="3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g3a45def2575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History</a:t>
            </a:r>
            <a:endParaRPr/>
          </a:p>
        </p:txBody>
      </p:sp>
      <p:pic>
        <p:nvPicPr>
          <p:cNvPr id="68" name="Google Shape;68;g3a45def2575_0_0"/>
          <p:cNvPicPr preferRelativeResize="0"/>
          <p:nvPr/>
        </p:nvPicPr>
        <p:blipFill rotWithShape="1">
          <a:blip r:embed="rId3">
            <a:alphaModFix/>
          </a:blip>
          <a:srcRect b="0" l="0" r="0" t="14361"/>
          <a:stretch/>
        </p:blipFill>
        <p:spPr>
          <a:xfrm>
            <a:off x="2192900" y="975875"/>
            <a:ext cx="4758200" cy="4074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Docker</a:t>
            </a:r>
            <a:endParaRPr/>
          </a:p>
        </p:txBody>
      </p:sp>
      <p:sp>
        <p:nvSpPr>
          <p:cNvPr id="74" name="Google Shape;74;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Docker is a </a:t>
            </a:r>
            <a:r>
              <a:rPr b="1" lang="en"/>
              <a:t>computer program</a:t>
            </a:r>
            <a:r>
              <a:rPr lang="en"/>
              <a:t> that performs operating-system-level virtualization also known as </a:t>
            </a:r>
            <a:r>
              <a:rPr b="1" lang="en"/>
              <a:t>containerization</a:t>
            </a:r>
            <a:r>
              <a:rPr lang="en"/>
              <a:t>.</a:t>
            </a:r>
            <a:endParaRPr/>
          </a:p>
          <a:p>
            <a:pPr indent="-342900" lvl="0" marL="457200" rtl="0" algn="l">
              <a:lnSpc>
                <a:spcPct val="115000"/>
              </a:lnSpc>
              <a:spcBef>
                <a:spcPts val="0"/>
              </a:spcBef>
              <a:spcAft>
                <a:spcPts val="0"/>
              </a:spcAft>
              <a:buSzPts val="1800"/>
              <a:buChar char="●"/>
            </a:pPr>
            <a:r>
              <a:rPr lang="en"/>
              <a:t>It was first released in 2013 and is developed by Docker, Inc.</a:t>
            </a:r>
            <a:endParaRPr/>
          </a:p>
          <a:p>
            <a:pPr indent="-342900" lvl="0" marL="457200" rtl="0" algn="l">
              <a:lnSpc>
                <a:spcPct val="115000"/>
              </a:lnSpc>
              <a:spcBef>
                <a:spcPts val="0"/>
              </a:spcBef>
              <a:spcAft>
                <a:spcPts val="0"/>
              </a:spcAft>
              <a:buSzPts val="1800"/>
              <a:buChar char="●"/>
            </a:pPr>
            <a:r>
              <a:rPr lang="en"/>
              <a:t>Docker is used to run software packages called "</a:t>
            </a:r>
            <a:r>
              <a:rPr b="1" lang="en"/>
              <a:t>containers</a:t>
            </a:r>
            <a:r>
              <a:rPr lang="en"/>
              <a:t>".</a:t>
            </a:r>
            <a:endParaRPr/>
          </a:p>
          <a:p>
            <a:pPr indent="-342900" lvl="0" marL="457200" rtl="0" algn="l">
              <a:lnSpc>
                <a:spcPct val="115000"/>
              </a:lnSpc>
              <a:spcBef>
                <a:spcPts val="0"/>
              </a:spcBef>
              <a:spcAft>
                <a:spcPts val="0"/>
              </a:spcAft>
              <a:buSzPts val="1800"/>
              <a:buChar char="●"/>
            </a:pPr>
            <a:r>
              <a:rPr lang="en"/>
              <a:t>In a typical example use case, one container runs a web server and web application, while a second container runs a database server that is used by the web application.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Docker</a:t>
            </a:r>
            <a:endParaRPr/>
          </a:p>
        </p:txBody>
      </p:sp>
      <p:sp>
        <p:nvSpPr>
          <p:cNvPr id="80" name="Google Shape;80;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Containers are </a:t>
            </a:r>
            <a:r>
              <a:rPr b="1" lang="en"/>
              <a:t>isolated</a:t>
            </a:r>
            <a:r>
              <a:rPr lang="en"/>
              <a:t> from each other and bundle their own tools, libraries and configuration files; they can communicate with each other through defined channels.</a:t>
            </a:r>
            <a:endParaRPr/>
          </a:p>
          <a:p>
            <a:pPr indent="-342900" lvl="0" marL="457200" rtl="0" algn="l">
              <a:lnSpc>
                <a:spcPct val="115000"/>
              </a:lnSpc>
              <a:spcBef>
                <a:spcPts val="0"/>
              </a:spcBef>
              <a:spcAft>
                <a:spcPts val="0"/>
              </a:spcAft>
              <a:buSzPts val="1800"/>
              <a:buChar char="●"/>
            </a:pPr>
            <a:r>
              <a:rPr lang="en"/>
              <a:t>All containers are run by a </a:t>
            </a:r>
            <a:r>
              <a:rPr b="1" lang="en"/>
              <a:t>single operating system kernel</a:t>
            </a:r>
            <a:r>
              <a:rPr lang="en"/>
              <a:t> and are thus more lightweight than virtual machines.</a:t>
            </a:r>
            <a:endParaRPr/>
          </a:p>
          <a:p>
            <a:pPr indent="-342900" lvl="0" marL="457200" rtl="0" algn="l">
              <a:lnSpc>
                <a:spcPct val="115000"/>
              </a:lnSpc>
              <a:spcBef>
                <a:spcPts val="0"/>
              </a:spcBef>
              <a:spcAft>
                <a:spcPts val="0"/>
              </a:spcAft>
              <a:buSzPts val="1800"/>
              <a:buChar char="●"/>
            </a:pPr>
            <a:r>
              <a:rPr lang="en"/>
              <a:t>Containers are created from "</a:t>
            </a:r>
            <a:r>
              <a:rPr b="1" lang="en"/>
              <a:t>images</a:t>
            </a:r>
            <a:r>
              <a:rPr lang="en"/>
              <a:t>" that specify their precise contents.</a:t>
            </a:r>
            <a:endParaRPr/>
          </a:p>
          <a:p>
            <a:pPr indent="-342900" lvl="0" marL="457200" rtl="0" algn="l">
              <a:lnSpc>
                <a:spcPct val="115000"/>
              </a:lnSpc>
              <a:spcBef>
                <a:spcPts val="0"/>
              </a:spcBef>
              <a:spcAft>
                <a:spcPts val="0"/>
              </a:spcAft>
              <a:buSzPts val="1800"/>
              <a:buChar char="●"/>
            </a:pPr>
            <a:r>
              <a:rPr lang="en"/>
              <a:t>Images are often created by combining and modifying standard images downloaded from repositories.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Hypervisor</a:t>
            </a:r>
            <a:endParaRPr/>
          </a:p>
        </p:txBody>
      </p:sp>
      <p:sp>
        <p:nvSpPr>
          <p:cNvPr id="86" name="Google Shape;86;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Hypervisor is a piece of software, firmware, or hardware that VMs run on top of (like our Ubuntu).</a:t>
            </a:r>
            <a:endParaRPr/>
          </a:p>
          <a:p>
            <a:pPr indent="-342900" lvl="0" marL="457200" rtl="0" algn="l">
              <a:lnSpc>
                <a:spcPct val="115000"/>
              </a:lnSpc>
              <a:spcBef>
                <a:spcPts val="0"/>
              </a:spcBef>
              <a:spcAft>
                <a:spcPts val="0"/>
              </a:spcAft>
              <a:buSzPts val="1800"/>
              <a:buChar char="●"/>
            </a:pPr>
            <a:r>
              <a:rPr lang="en"/>
              <a:t>The hypervisors themselves run on physical computers, referred to as the “host machine”.</a:t>
            </a:r>
            <a:endParaRPr/>
          </a:p>
          <a:p>
            <a:pPr indent="-342900" lvl="0" marL="457200" rtl="0" algn="l">
              <a:lnSpc>
                <a:spcPct val="115000"/>
              </a:lnSpc>
              <a:spcBef>
                <a:spcPts val="0"/>
              </a:spcBef>
              <a:spcAft>
                <a:spcPts val="0"/>
              </a:spcAft>
              <a:buSzPts val="1800"/>
              <a:buChar char="●"/>
            </a:pPr>
            <a:r>
              <a:rPr lang="en"/>
              <a:t>The host machine provides the VMs with resources, including RAM and CPU.</a:t>
            </a:r>
            <a:endParaRPr/>
          </a:p>
          <a:p>
            <a:pPr indent="-342900" lvl="0" marL="457200" rtl="0" algn="l">
              <a:lnSpc>
                <a:spcPct val="115000"/>
              </a:lnSpc>
              <a:spcBef>
                <a:spcPts val="0"/>
              </a:spcBef>
              <a:spcAft>
                <a:spcPts val="0"/>
              </a:spcAft>
              <a:buSzPts val="1800"/>
              <a:buChar char="●"/>
            </a:pPr>
            <a:r>
              <a:rPr lang="en"/>
              <a:t>These resources are divided between VMs and can be distributed as you see fit.</a:t>
            </a:r>
            <a:endParaRPr/>
          </a:p>
          <a:p>
            <a:pPr indent="-342900" lvl="0" marL="457200" rtl="0" algn="l">
              <a:lnSpc>
                <a:spcPct val="115000"/>
              </a:lnSpc>
              <a:spcBef>
                <a:spcPts val="0"/>
              </a:spcBef>
              <a:spcAft>
                <a:spcPts val="0"/>
              </a:spcAft>
              <a:buSzPts val="1800"/>
              <a:buChar char="●"/>
            </a:pPr>
            <a:r>
              <a:rPr lang="en"/>
              <a:t>So if one VM is running a more resource heavy application, you might allocate more resources to that one than the other VMs running on the same host machine.</a:t>
            </a:r>
            <a:endParaRPr/>
          </a:p>
          <a:p>
            <a:pPr indent="0" lvl="0" marL="0" rtl="0" algn="l">
              <a:lnSpc>
                <a:spcPct val="115000"/>
              </a:lnSpc>
              <a:spcBef>
                <a:spcPts val="1600"/>
              </a:spcBef>
              <a:spcAft>
                <a:spcPts val="0"/>
              </a:spcAft>
              <a:buSzPts val="1800"/>
              <a:buNone/>
            </a:pPr>
            <a:r>
              <a:t/>
            </a:r>
            <a:endParaRPr/>
          </a:p>
          <a:p>
            <a:pPr indent="0" lvl="0" marL="457200" rtl="0" algn="l">
              <a:lnSpc>
                <a:spcPct val="115000"/>
              </a:lnSpc>
              <a:spcBef>
                <a:spcPts val="1600"/>
              </a:spcBef>
              <a:spcAft>
                <a:spcPts val="160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Dockerfile</a:t>
            </a:r>
            <a:endParaRPr/>
          </a:p>
        </p:txBody>
      </p:sp>
      <p:sp>
        <p:nvSpPr>
          <p:cNvPr id="92" name="Google Shape;92;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Dockerfile is where you write the instructions to build a Docker image.</a:t>
            </a:r>
            <a:endParaRPr/>
          </a:p>
          <a:p>
            <a:pPr indent="-342900" lvl="0" marL="457200" rtl="0" algn="l">
              <a:lnSpc>
                <a:spcPct val="115000"/>
              </a:lnSpc>
              <a:spcBef>
                <a:spcPts val="0"/>
              </a:spcBef>
              <a:spcAft>
                <a:spcPts val="0"/>
              </a:spcAft>
              <a:buSzPts val="1800"/>
              <a:buChar char="●"/>
            </a:pPr>
            <a:r>
              <a:rPr lang="en"/>
              <a:t>Once you’ve got your Dockerfile set up, you can use the docker build command to build an image from it.</a:t>
            </a:r>
            <a:endParaRPr/>
          </a:p>
          <a:p>
            <a:pPr indent="-342900" lvl="0" marL="457200" rtl="0" algn="l">
              <a:lnSpc>
                <a:spcPct val="115000"/>
              </a:lnSpc>
              <a:spcBef>
                <a:spcPts val="0"/>
              </a:spcBef>
              <a:spcAft>
                <a:spcPts val="0"/>
              </a:spcAft>
              <a:buSzPts val="1800"/>
              <a:buChar char="●"/>
            </a:pPr>
            <a:r>
              <a:rPr lang="en"/>
              <a:t>It supports a simple set of commands that you need to use in your Dockerfile.</a:t>
            </a:r>
            <a:endParaRPr/>
          </a:p>
          <a:p>
            <a:pPr indent="-342900" lvl="0" marL="457200" rtl="0" algn="l">
              <a:lnSpc>
                <a:spcPct val="115000"/>
              </a:lnSpc>
              <a:spcBef>
                <a:spcPts val="0"/>
              </a:spcBef>
              <a:spcAft>
                <a:spcPts val="0"/>
              </a:spcAft>
              <a:buSzPts val="1800"/>
              <a:buChar char="●"/>
            </a:pPr>
            <a:r>
              <a:rPr lang="en"/>
              <a:t>There are several commands supported like FROM, CMD, VOLUME, ENV and more</a:t>
            </a:r>
            <a:endParaRPr/>
          </a:p>
          <a:p>
            <a:pPr indent="-342900" lvl="0" marL="457200" rtl="0" algn="l">
              <a:lnSpc>
                <a:spcPct val="115000"/>
              </a:lnSpc>
              <a:spcBef>
                <a:spcPts val="0"/>
              </a:spcBef>
              <a:spcAft>
                <a:spcPts val="0"/>
              </a:spcAft>
              <a:buSzPts val="1800"/>
              <a:buChar char="●"/>
            </a:pPr>
            <a:r>
              <a:rPr lang="en"/>
              <a:t>A Dockerfile is a text file that Docker reads in from top to bottom.</a:t>
            </a:r>
            <a:endParaRPr/>
          </a:p>
          <a:p>
            <a:pPr indent="-342900" lvl="0" marL="457200" rtl="0" algn="l">
              <a:lnSpc>
                <a:spcPct val="115000"/>
              </a:lnSpc>
              <a:spcBef>
                <a:spcPts val="0"/>
              </a:spcBef>
              <a:spcAft>
                <a:spcPts val="0"/>
              </a:spcAft>
              <a:buSzPts val="1800"/>
              <a:buChar char="●"/>
            </a:pPr>
            <a:r>
              <a:rPr lang="en"/>
              <a:t>You can relate it to cooking. In cooking you have recipes. A recipe lets you know all of the steps you must take in order to produce whatever you’re trying to cook.</a:t>
            </a:r>
            <a:endParaRPr/>
          </a:p>
          <a:p>
            <a:pPr indent="0" lvl="0" marL="457200" rtl="0" algn="l">
              <a:lnSpc>
                <a:spcPct val="115000"/>
              </a:lnSpc>
              <a:spcBef>
                <a:spcPts val="1600"/>
              </a:spcBef>
              <a:spcAft>
                <a:spcPts val="1600"/>
              </a:spcAft>
              <a:buSzPts val="1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grpSp>
        <p:nvGrpSpPr>
          <p:cNvPr id="97" name="Google Shape;97;p7"/>
          <p:cNvGrpSpPr/>
          <p:nvPr/>
        </p:nvGrpSpPr>
        <p:grpSpPr>
          <a:xfrm>
            <a:off x="152400" y="588550"/>
            <a:ext cx="8839200" cy="3966405"/>
            <a:chOff x="152400" y="152400"/>
            <a:chExt cx="8839200" cy="3966405"/>
          </a:xfrm>
        </p:grpSpPr>
        <p:pic>
          <p:nvPicPr>
            <p:cNvPr id="98" name="Google Shape;98;p7"/>
            <p:cNvPicPr preferRelativeResize="0"/>
            <p:nvPr/>
          </p:nvPicPr>
          <p:blipFill rotWithShape="1">
            <a:blip r:embed="rId3">
              <a:alphaModFix/>
            </a:blip>
            <a:srcRect b="56154" l="0" r="0" t="0"/>
            <a:stretch/>
          </p:blipFill>
          <p:spPr>
            <a:xfrm>
              <a:off x="152400" y="152400"/>
              <a:ext cx="8839200" cy="1983200"/>
            </a:xfrm>
            <a:prstGeom prst="rect">
              <a:avLst/>
            </a:prstGeom>
            <a:noFill/>
            <a:ln>
              <a:noFill/>
            </a:ln>
          </p:spPr>
        </p:pic>
        <p:pic>
          <p:nvPicPr>
            <p:cNvPr id="99" name="Google Shape;99;p7"/>
            <p:cNvPicPr preferRelativeResize="0"/>
            <p:nvPr/>
          </p:nvPicPr>
          <p:blipFill rotWithShape="1">
            <a:blip r:embed="rId3">
              <a:alphaModFix/>
            </a:blip>
            <a:srcRect b="4" l="0" r="0" t="56151"/>
            <a:stretch/>
          </p:blipFill>
          <p:spPr>
            <a:xfrm>
              <a:off x="152400" y="2135605"/>
              <a:ext cx="8839200" cy="1983200"/>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Image</a:t>
            </a:r>
            <a:endParaRPr/>
          </a:p>
        </p:txBody>
      </p:sp>
      <p:sp>
        <p:nvSpPr>
          <p:cNvPr id="105" name="Google Shape;105;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Images are read-only templates that you build from a set of instructions written in your Dockerfile.</a:t>
            </a:r>
            <a:endParaRPr/>
          </a:p>
          <a:p>
            <a:pPr indent="-342900" lvl="0" marL="457200" rtl="0" algn="l">
              <a:lnSpc>
                <a:spcPct val="115000"/>
              </a:lnSpc>
              <a:spcBef>
                <a:spcPts val="0"/>
              </a:spcBef>
              <a:spcAft>
                <a:spcPts val="0"/>
              </a:spcAft>
              <a:buSzPts val="1800"/>
              <a:buChar char="●"/>
            </a:pPr>
            <a:r>
              <a:rPr lang="en"/>
              <a:t>Images define both what you want your packaged application and its dependencies to look like and what processes to run when it’s launched.</a:t>
            </a:r>
            <a:endParaRPr/>
          </a:p>
          <a:p>
            <a:pPr indent="-342900" lvl="0" marL="457200" rtl="0" algn="l">
              <a:lnSpc>
                <a:spcPct val="115000"/>
              </a:lnSpc>
              <a:spcBef>
                <a:spcPts val="0"/>
              </a:spcBef>
              <a:spcAft>
                <a:spcPts val="0"/>
              </a:spcAft>
              <a:buSzPts val="1800"/>
              <a:buChar char="●"/>
            </a:pPr>
            <a:r>
              <a:rPr lang="en"/>
              <a:t>The Docker image is built using a Dockerfile.</a:t>
            </a:r>
            <a:endParaRPr/>
          </a:p>
          <a:p>
            <a:pPr indent="-342900" lvl="0" marL="457200" rtl="0" algn="l">
              <a:lnSpc>
                <a:spcPct val="115000"/>
              </a:lnSpc>
              <a:spcBef>
                <a:spcPts val="0"/>
              </a:spcBef>
              <a:spcAft>
                <a:spcPts val="0"/>
              </a:spcAft>
              <a:buSzPts val="1800"/>
              <a:buChar char="●"/>
            </a:pPr>
            <a:r>
              <a:rPr lang="en"/>
              <a:t>Each instruction in the Dockerfile adds a new “layer” to the image, with layers representing a portion of the images file system that either adds to or replaces the layer below it.</a:t>
            </a:r>
            <a:endParaRPr/>
          </a:p>
          <a:p>
            <a:pPr indent="-342900" lvl="0" marL="457200" rtl="0" algn="l">
              <a:lnSpc>
                <a:spcPct val="115000"/>
              </a:lnSpc>
              <a:spcBef>
                <a:spcPts val="0"/>
              </a:spcBef>
              <a:spcAft>
                <a:spcPts val="0"/>
              </a:spcAft>
              <a:buSzPts val="1800"/>
              <a:buChar char="●"/>
            </a:pPr>
            <a:r>
              <a:rPr lang="en"/>
              <a:t>Layers are key to Docker’s lightweight yet powerful structure.</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Containers</a:t>
            </a:r>
            <a:endParaRPr/>
          </a:p>
        </p:txBody>
      </p:sp>
      <p:sp>
        <p:nvSpPr>
          <p:cNvPr id="111" name="Google Shape;111;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Unlike a VM which provides hardware virtualization, a container provides operating-system-level virtualization.</a:t>
            </a:r>
            <a:endParaRPr/>
          </a:p>
          <a:p>
            <a:pPr indent="-342900" lvl="0" marL="457200" rtl="0" algn="l">
              <a:lnSpc>
                <a:spcPct val="115000"/>
              </a:lnSpc>
              <a:spcBef>
                <a:spcPts val="0"/>
              </a:spcBef>
              <a:spcAft>
                <a:spcPts val="0"/>
              </a:spcAft>
              <a:buSzPts val="1800"/>
              <a:buChar char="●"/>
            </a:pPr>
            <a:r>
              <a:rPr lang="en"/>
              <a:t>For all intent and purposes, containers look like a VM.</a:t>
            </a:r>
            <a:endParaRPr/>
          </a:p>
          <a:p>
            <a:pPr indent="-342900" lvl="0" marL="457200" rtl="0" algn="l">
              <a:lnSpc>
                <a:spcPct val="115000"/>
              </a:lnSpc>
              <a:spcBef>
                <a:spcPts val="0"/>
              </a:spcBef>
              <a:spcAft>
                <a:spcPts val="0"/>
              </a:spcAft>
              <a:buSzPts val="1800"/>
              <a:buChar char="●"/>
            </a:pPr>
            <a:r>
              <a:rPr lang="en"/>
              <a:t>For example, they have private space for processing, can execute commands as root, have a private network interface and IP address, allow custom routes and iptable rules, can mount file systems, etc.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Containers</a:t>
            </a:r>
            <a:endParaRPr/>
          </a:p>
        </p:txBody>
      </p:sp>
      <p:sp>
        <p:nvSpPr>
          <p:cNvPr id="117" name="Google Shape;117;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Docker container, wraps an application’s software into an invisible box with everything the application needs to run.</a:t>
            </a:r>
            <a:endParaRPr/>
          </a:p>
          <a:p>
            <a:pPr indent="-342900" lvl="0" marL="457200" rtl="0" algn="l">
              <a:lnSpc>
                <a:spcPct val="115000"/>
              </a:lnSpc>
              <a:spcBef>
                <a:spcPts val="0"/>
              </a:spcBef>
              <a:spcAft>
                <a:spcPts val="0"/>
              </a:spcAft>
              <a:buSzPts val="1800"/>
              <a:buChar char="●"/>
            </a:pPr>
            <a:r>
              <a:rPr lang="en"/>
              <a:t>That includes the operating system, application code, runtime, system tools, system libraries, etc.</a:t>
            </a:r>
            <a:endParaRPr/>
          </a:p>
          <a:p>
            <a:pPr indent="-342900" lvl="0" marL="457200" rtl="0" algn="l">
              <a:lnSpc>
                <a:spcPct val="115000"/>
              </a:lnSpc>
              <a:spcBef>
                <a:spcPts val="0"/>
              </a:spcBef>
              <a:spcAft>
                <a:spcPts val="0"/>
              </a:spcAft>
              <a:buSzPts val="1800"/>
              <a:buChar char="●"/>
            </a:pPr>
            <a:r>
              <a:rPr lang="en"/>
              <a:t>Docker containers are built off Docker images.</a:t>
            </a:r>
            <a:endParaRPr/>
          </a:p>
          <a:p>
            <a:pPr indent="-342900" lvl="0" marL="457200" rtl="0" algn="l">
              <a:lnSpc>
                <a:spcPct val="115000"/>
              </a:lnSpc>
              <a:spcBef>
                <a:spcPts val="0"/>
              </a:spcBef>
              <a:spcAft>
                <a:spcPts val="0"/>
              </a:spcAft>
              <a:buSzPts val="1800"/>
              <a:buChar char="●"/>
            </a:pPr>
            <a:r>
              <a:rPr lang="en"/>
              <a:t>Since images are read-only, Docker adds a read-write file system over the read-only file system of the image to create a container.</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Setup</a:t>
            </a:r>
            <a:endParaRPr/>
          </a:p>
        </p:txBody>
      </p:sp>
      <p:sp>
        <p:nvSpPr>
          <p:cNvPr id="123" name="Google Shape;123;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Download Docker toolbox from:</a:t>
            </a:r>
            <a:endParaRPr/>
          </a:p>
          <a:p>
            <a:pPr indent="-342900" lvl="0" marL="457200" rtl="0" algn="l">
              <a:lnSpc>
                <a:spcPct val="115000"/>
              </a:lnSpc>
              <a:spcBef>
                <a:spcPts val="0"/>
              </a:spcBef>
              <a:spcAft>
                <a:spcPts val="0"/>
              </a:spcAft>
              <a:buSzPts val="1800"/>
              <a:buChar char="●"/>
            </a:pPr>
            <a:r>
              <a:rPr lang="en"/>
              <a:t>https://docs.docker.com/toolbox/overview</a:t>
            </a:r>
            <a:endParaRPr/>
          </a:p>
          <a:p>
            <a:pPr indent="-342900" lvl="0" marL="457200" rtl="0" algn="l">
              <a:lnSpc>
                <a:spcPct val="115000"/>
              </a:lnSpc>
              <a:spcBef>
                <a:spcPts val="0"/>
              </a:spcBef>
              <a:spcAft>
                <a:spcPts val="0"/>
              </a:spcAft>
              <a:buSzPts val="1800"/>
              <a:buChar char="●"/>
            </a:pPr>
            <a:r>
              <a:rPr lang="en"/>
              <a:t>Follow the defaults and make sure Docker compose &amp; Kitematic</a:t>
            </a:r>
            <a:endParaRPr/>
          </a:p>
          <a:p>
            <a:pPr indent="-342900" lvl="0" marL="457200" rtl="0" algn="l">
              <a:lnSpc>
                <a:spcPct val="115000"/>
              </a:lnSpc>
              <a:spcBef>
                <a:spcPts val="0"/>
              </a:spcBef>
              <a:spcAft>
                <a:spcPts val="0"/>
              </a:spcAft>
              <a:buSzPts val="1800"/>
              <a:buChar char="●"/>
            </a:pPr>
            <a:r>
              <a:rPr lang="en"/>
              <a:t>are marked and Virtualbox and Git are not (we already have them</a:t>
            </a:r>
            <a:endParaRPr/>
          </a:p>
          <a:p>
            <a:pPr indent="0" lvl="0" marL="457200" rtl="0" algn="l">
              <a:lnSpc>
                <a:spcPct val="115000"/>
              </a:lnSpc>
              <a:spcBef>
                <a:spcPts val="0"/>
              </a:spcBef>
              <a:spcAft>
                <a:spcPts val="0"/>
              </a:spcAft>
              <a:buNone/>
            </a:pPr>
            <a:r>
              <a:rPr lang="en"/>
              <a:t>installed):</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Setup</a:t>
            </a:r>
            <a:endParaRPr/>
          </a:p>
        </p:txBody>
      </p:sp>
      <p:sp>
        <p:nvSpPr>
          <p:cNvPr id="129" name="Google Shape;129;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t/>
            </a:r>
            <a:endParaRPr/>
          </a:p>
        </p:txBody>
      </p:sp>
      <p:pic>
        <p:nvPicPr>
          <p:cNvPr id="130" name="Google Shape;130;p12"/>
          <p:cNvPicPr preferRelativeResize="0"/>
          <p:nvPr/>
        </p:nvPicPr>
        <p:blipFill rotWithShape="1">
          <a:blip r:embed="rId3">
            <a:alphaModFix/>
          </a:blip>
          <a:srcRect b="0" l="0" r="0" t="0"/>
          <a:stretch/>
        </p:blipFill>
        <p:spPr>
          <a:xfrm>
            <a:off x="311700" y="1266325"/>
            <a:ext cx="4629150" cy="3790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Setup</a:t>
            </a:r>
            <a:endParaRPr/>
          </a:p>
        </p:txBody>
      </p:sp>
      <p:sp>
        <p:nvSpPr>
          <p:cNvPr id="136" name="Google Shape;136;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Once installation is done open the Docker toolbox app:</a:t>
            </a:r>
            <a:endParaRPr/>
          </a:p>
          <a:p>
            <a:pPr indent="0" lvl="0" marL="0" rtl="0" algn="l">
              <a:lnSpc>
                <a:spcPct val="115000"/>
              </a:lnSpc>
              <a:spcBef>
                <a:spcPts val="1600"/>
              </a:spcBef>
              <a:spcAft>
                <a:spcPts val="1600"/>
              </a:spcAft>
              <a:buSzPts val="1800"/>
              <a:buNone/>
            </a:pPr>
            <a:r>
              <a:rPr lang="en"/>
              <a:t>Wait until you see the following:</a:t>
            </a:r>
            <a:endParaRPr/>
          </a:p>
        </p:txBody>
      </p:sp>
      <p:pic>
        <p:nvPicPr>
          <p:cNvPr id="137" name="Google Shape;137;p13"/>
          <p:cNvPicPr preferRelativeResize="0"/>
          <p:nvPr/>
        </p:nvPicPr>
        <p:blipFill rotWithShape="1">
          <a:blip r:embed="rId3">
            <a:alphaModFix/>
          </a:blip>
          <a:srcRect b="0" l="0" r="0" t="0"/>
          <a:stretch/>
        </p:blipFill>
        <p:spPr>
          <a:xfrm>
            <a:off x="6337850" y="1152425"/>
            <a:ext cx="762000" cy="628650"/>
          </a:xfrm>
          <a:prstGeom prst="rect">
            <a:avLst/>
          </a:prstGeom>
          <a:noFill/>
          <a:ln>
            <a:noFill/>
          </a:ln>
        </p:spPr>
      </p:pic>
      <p:pic>
        <p:nvPicPr>
          <p:cNvPr id="138" name="Google Shape;138;p13"/>
          <p:cNvPicPr preferRelativeResize="0"/>
          <p:nvPr/>
        </p:nvPicPr>
        <p:blipFill rotWithShape="1">
          <a:blip r:embed="rId4">
            <a:alphaModFix/>
          </a:blip>
          <a:srcRect b="12087" l="0" r="0" t="0"/>
          <a:stretch/>
        </p:blipFill>
        <p:spPr>
          <a:xfrm>
            <a:off x="311700" y="2190750"/>
            <a:ext cx="5048250" cy="2595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Commands</a:t>
            </a:r>
            <a:endParaRPr/>
          </a:p>
        </p:txBody>
      </p:sp>
      <p:sp>
        <p:nvSpPr>
          <p:cNvPr id="144" name="Google Shape;144;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docker version</a:t>
            </a:r>
            <a:endParaRPr/>
          </a:p>
          <a:p>
            <a:pPr indent="-342900" lvl="0" marL="457200" rtl="0" algn="l">
              <a:lnSpc>
                <a:spcPct val="115000"/>
              </a:lnSpc>
              <a:spcBef>
                <a:spcPts val="0"/>
              </a:spcBef>
              <a:spcAft>
                <a:spcPts val="0"/>
              </a:spcAft>
              <a:buSzPts val="1800"/>
              <a:buChar char="●"/>
            </a:pPr>
            <a:r>
              <a:rPr lang="en"/>
              <a:t>docker pull &lt;image_name&gt;</a:t>
            </a:r>
            <a:endParaRPr/>
          </a:p>
          <a:p>
            <a:pPr indent="-342900" lvl="0" marL="457200" rtl="0" algn="l">
              <a:lnSpc>
                <a:spcPct val="115000"/>
              </a:lnSpc>
              <a:spcBef>
                <a:spcPts val="0"/>
              </a:spcBef>
              <a:spcAft>
                <a:spcPts val="0"/>
              </a:spcAft>
              <a:buSzPts val="1800"/>
              <a:buChar char="●"/>
            </a:pPr>
            <a:r>
              <a:rPr lang="en"/>
              <a:t>docker run -itd --name &lt;container_name&gt; &lt;image_name&gt;</a:t>
            </a:r>
            <a:endParaRPr/>
          </a:p>
          <a:p>
            <a:pPr indent="-342900" lvl="0" marL="457200" rtl="0" algn="l">
              <a:lnSpc>
                <a:spcPct val="115000"/>
              </a:lnSpc>
              <a:spcBef>
                <a:spcPts val="0"/>
              </a:spcBef>
              <a:spcAft>
                <a:spcPts val="0"/>
              </a:spcAft>
              <a:buSzPts val="1800"/>
              <a:buChar char="●"/>
            </a:pPr>
            <a:r>
              <a:rPr lang="en"/>
              <a:t>docker push &lt;username/image_name&gt;</a:t>
            </a:r>
            <a:endParaRPr/>
          </a:p>
          <a:p>
            <a:pPr indent="-342900" lvl="0" marL="457200" rtl="0" algn="l">
              <a:lnSpc>
                <a:spcPct val="115000"/>
              </a:lnSpc>
              <a:spcBef>
                <a:spcPts val="0"/>
              </a:spcBef>
              <a:spcAft>
                <a:spcPts val="0"/>
              </a:spcAft>
              <a:buSzPts val="1800"/>
              <a:buChar char="●"/>
            </a:pPr>
            <a:r>
              <a:rPr lang="en"/>
              <a:t>docker images (or ‘image ls’)</a:t>
            </a:r>
            <a:endParaRPr/>
          </a:p>
          <a:p>
            <a:pPr indent="-342900" lvl="0" marL="457200" rtl="0" algn="l">
              <a:lnSpc>
                <a:spcPct val="115000"/>
              </a:lnSpc>
              <a:spcBef>
                <a:spcPts val="0"/>
              </a:spcBef>
              <a:spcAft>
                <a:spcPts val="0"/>
              </a:spcAft>
              <a:buSzPts val="1800"/>
              <a:buChar char="●"/>
            </a:pPr>
            <a:r>
              <a:rPr lang="en"/>
              <a:t>docker rm &lt;container name or Id&gt;</a:t>
            </a:r>
            <a:endParaRPr/>
          </a:p>
          <a:p>
            <a:pPr indent="-342900" lvl="0" marL="457200" rtl="0" algn="l">
              <a:lnSpc>
                <a:spcPct val="115000"/>
              </a:lnSpc>
              <a:spcBef>
                <a:spcPts val="0"/>
              </a:spcBef>
              <a:spcAft>
                <a:spcPts val="0"/>
              </a:spcAft>
              <a:buSzPts val="1800"/>
              <a:buChar char="●"/>
            </a:pPr>
            <a:r>
              <a:rPr lang="en"/>
              <a:t>docker ps</a:t>
            </a:r>
            <a:endParaRPr/>
          </a:p>
          <a:p>
            <a:pPr indent="-342900" lvl="0" marL="457200" rtl="0" algn="l">
              <a:lnSpc>
                <a:spcPct val="115000"/>
              </a:lnSpc>
              <a:spcBef>
                <a:spcPts val="0"/>
              </a:spcBef>
              <a:spcAft>
                <a:spcPts val="0"/>
              </a:spcAft>
              <a:buSzPts val="1800"/>
              <a:buChar char="●"/>
            </a:pPr>
            <a:r>
              <a:rPr lang="en"/>
              <a:t>docker exec -it &lt;container name or id&gt;</a:t>
            </a:r>
            <a:endParaRPr/>
          </a:p>
          <a:p>
            <a:pPr indent="-342900" lvl="0" marL="457200" rtl="0" algn="l">
              <a:lnSpc>
                <a:spcPct val="115000"/>
              </a:lnSpc>
              <a:spcBef>
                <a:spcPts val="0"/>
              </a:spcBef>
              <a:spcAft>
                <a:spcPts val="0"/>
              </a:spcAft>
              <a:buSzPts val="1800"/>
              <a:buChar char="●"/>
            </a:pPr>
            <a:r>
              <a:rPr lang="en"/>
              <a:t>docker stop &lt;container name or id&gt; </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Nginx</a:t>
            </a:r>
            <a:endParaRPr/>
          </a:p>
        </p:txBody>
      </p:sp>
      <p:sp>
        <p:nvSpPr>
          <p:cNvPr id="150" name="Google Shape;15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Nginx (Engine X) is an open source reverse proxy server for HTTP, HTTPS, SMTP, POP3, and IMAP protocols, as well as a load balancer, HTTP cache, and a web server (origin server).</a:t>
            </a:r>
            <a:endParaRPr/>
          </a:p>
          <a:p>
            <a:pPr indent="-342900" lvl="0" marL="457200" rtl="0" algn="l">
              <a:lnSpc>
                <a:spcPct val="115000"/>
              </a:lnSpc>
              <a:spcBef>
                <a:spcPts val="0"/>
              </a:spcBef>
              <a:spcAft>
                <a:spcPts val="0"/>
              </a:spcAft>
              <a:buSzPts val="1800"/>
              <a:buChar char="●"/>
            </a:pPr>
            <a:r>
              <a:rPr lang="en"/>
              <a:t>According to Netcraft, nginx served or proxied 24.86% busiest sites in July 2018.</a:t>
            </a:r>
            <a:endParaRPr/>
          </a:p>
          <a:p>
            <a:pPr indent="-342900" lvl="0" marL="457200" rtl="0" algn="l">
              <a:lnSpc>
                <a:spcPct val="115000"/>
              </a:lnSpc>
              <a:spcBef>
                <a:spcPts val="0"/>
              </a:spcBef>
              <a:spcAft>
                <a:spcPts val="0"/>
              </a:spcAft>
              <a:buSzPts val="1800"/>
              <a:buChar char="●"/>
            </a:pPr>
            <a:r>
              <a:rPr lang="en"/>
              <a:t>Some of the success stories are: Dropbox, Netflix, Wordpress.com, FastMail.FM.</a:t>
            </a:r>
            <a:endParaRPr/>
          </a:p>
          <a:p>
            <a:pPr indent="-342900" lvl="0" marL="457200" rtl="0" algn="l">
              <a:lnSpc>
                <a:spcPct val="115000"/>
              </a:lnSpc>
              <a:spcBef>
                <a:spcPts val="0"/>
              </a:spcBef>
              <a:spcAft>
                <a:spcPts val="0"/>
              </a:spcAft>
              <a:buSzPts val="1800"/>
              <a:buChar char="●"/>
            </a:pPr>
            <a:r>
              <a:rPr lang="en"/>
              <a:t>We are going to use Nginx as a running Docker container: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Nginx</a:t>
            </a:r>
            <a:endParaRPr/>
          </a:p>
        </p:txBody>
      </p:sp>
      <p:sp>
        <p:nvSpPr>
          <p:cNvPr id="156" name="Google Shape;156;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Pull Nginx image from hub:</a:t>
            </a:r>
            <a:br>
              <a:rPr lang="en"/>
            </a:br>
            <a:r>
              <a:rPr b="1" lang="en"/>
              <a:t>docker pull nginx</a:t>
            </a:r>
            <a:endParaRPr b="1"/>
          </a:p>
          <a:p>
            <a:pPr indent="0" lvl="0" marL="0" rtl="0" algn="l">
              <a:lnSpc>
                <a:spcPct val="115000"/>
              </a:lnSpc>
              <a:spcBef>
                <a:spcPts val="1600"/>
              </a:spcBef>
              <a:spcAft>
                <a:spcPts val="0"/>
              </a:spcAft>
              <a:buSzPts val="1800"/>
              <a:buNone/>
            </a:pPr>
            <a:r>
              <a:rPr lang="en"/>
              <a:t>Run Nginx image:</a:t>
            </a:r>
            <a:br>
              <a:rPr lang="en"/>
            </a:br>
            <a:r>
              <a:rPr b="1" lang="en"/>
              <a:t>docker run --name docker-nginx -p 80:80 -d nginx</a:t>
            </a:r>
            <a:endParaRPr b="1"/>
          </a:p>
          <a:p>
            <a:pPr indent="0" lvl="0" marL="0" rtl="0" algn="l">
              <a:lnSpc>
                <a:spcPct val="115000"/>
              </a:lnSpc>
              <a:spcBef>
                <a:spcPts val="1600"/>
              </a:spcBef>
              <a:spcAft>
                <a:spcPts val="0"/>
              </a:spcAft>
              <a:buSzPts val="1800"/>
              <a:buNone/>
            </a:pPr>
            <a:r>
              <a:rPr lang="en"/>
              <a:t>Checking all running containers:</a:t>
            </a:r>
            <a:br>
              <a:rPr lang="en"/>
            </a:br>
            <a:r>
              <a:rPr b="1" lang="en"/>
              <a:t>docker ps</a:t>
            </a:r>
            <a:endParaRPr b="1"/>
          </a:p>
          <a:p>
            <a:pPr indent="0" lvl="0" marL="0" rtl="0" algn="l">
              <a:lnSpc>
                <a:spcPct val="115000"/>
              </a:lnSpc>
              <a:spcBef>
                <a:spcPts val="1600"/>
              </a:spcBef>
              <a:spcAft>
                <a:spcPts val="0"/>
              </a:spcAft>
              <a:buSzPts val="1800"/>
              <a:buNone/>
            </a:pPr>
            <a:r>
              <a:rPr lang="en"/>
              <a:t>Go to your host, open any browser and type your VM ip address : </a:t>
            </a:r>
            <a:endParaRPr/>
          </a:p>
          <a:p>
            <a:pPr indent="0" lvl="0" marL="0" rtl="0" algn="l">
              <a:lnSpc>
                <a:spcPct val="115000"/>
              </a:lnSpc>
              <a:spcBef>
                <a:spcPts val="1600"/>
              </a:spcBef>
              <a:spcAft>
                <a:spcPts val="0"/>
              </a:spcAft>
              <a:buSzPts val="1800"/>
              <a:buNone/>
            </a:pPr>
            <a:r>
              <a:rPr b="1" lang="en"/>
              <a:t>ip a</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a:t>Nginx</a:t>
            </a:r>
            <a:endParaRPr/>
          </a:p>
        </p:txBody>
      </p:sp>
      <p:sp>
        <p:nvSpPr>
          <p:cNvPr id="162" name="Google Shape;162;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a:t>Stopping Nginx container:</a:t>
            </a:r>
            <a:endParaRPr/>
          </a:p>
          <a:p>
            <a:pPr indent="0" lvl="0" marL="0" rtl="0" algn="l">
              <a:lnSpc>
                <a:spcPct val="115000"/>
              </a:lnSpc>
              <a:spcBef>
                <a:spcPts val="1600"/>
              </a:spcBef>
              <a:spcAft>
                <a:spcPts val="0"/>
              </a:spcAft>
              <a:buClr>
                <a:srgbClr val="000000"/>
              </a:buClr>
              <a:buSzPts val="1100"/>
              <a:buFont typeface="Arial"/>
              <a:buNone/>
            </a:pPr>
            <a:r>
              <a:rPr b="1" lang="en"/>
              <a:t>docker stop docker-nginx</a:t>
            </a:r>
            <a:endParaRPr b="1"/>
          </a:p>
          <a:p>
            <a:pPr indent="0" lvl="0" marL="0" rtl="0" algn="l">
              <a:lnSpc>
                <a:spcPct val="115000"/>
              </a:lnSpc>
              <a:spcBef>
                <a:spcPts val="1600"/>
              </a:spcBef>
              <a:spcAft>
                <a:spcPts val="0"/>
              </a:spcAft>
              <a:buClr>
                <a:srgbClr val="000000"/>
              </a:buClr>
              <a:buSzPts val="1100"/>
              <a:buFont typeface="Arial"/>
              <a:buNone/>
            </a:pPr>
            <a:r>
              <a:rPr lang="en"/>
              <a:t>Removing Nginx container at the end:</a:t>
            </a:r>
            <a:br>
              <a:rPr lang="en"/>
            </a:br>
            <a:r>
              <a:rPr b="1" lang="en"/>
              <a:t>docker rm docker-nginx</a:t>
            </a:r>
            <a:endParaRPr b="1"/>
          </a:p>
          <a:p>
            <a:pPr indent="0" lvl="0" marL="0" rtl="0" algn="l">
              <a:lnSpc>
                <a:spcPct val="115000"/>
              </a:lnSpc>
              <a:spcBef>
                <a:spcPts val="1600"/>
              </a:spcBef>
              <a:spcAft>
                <a:spcPts val="0"/>
              </a:spcAft>
              <a:buClr>
                <a:srgbClr val="000000"/>
              </a:buClr>
              <a:buSzPts val="1100"/>
              <a:buFont typeface="Arial"/>
              <a:buNone/>
            </a:pPr>
            <a:r>
              <a:rPr lang="en" u="sng">
                <a:solidFill>
                  <a:schemeClr val="hlink"/>
                </a:solidFill>
                <a:hlinkClick r:id="rId3"/>
              </a:rPr>
              <a:t>https://www.nginx.com/products/</a:t>
            </a:r>
            <a:endParaRPr/>
          </a:p>
          <a:p>
            <a:pPr indent="0" lvl="0" marL="0" rtl="0" algn="l">
              <a:spcBef>
                <a:spcPts val="1600"/>
              </a:spcBef>
              <a:spcAft>
                <a:spcPts val="0"/>
              </a:spcAft>
              <a:buNone/>
            </a:pPr>
            <a:r>
              <a:rPr b="1" lang="en"/>
              <a:t>docker image rm nginx</a:t>
            </a:r>
            <a:endParaRPr b="1"/>
          </a:p>
          <a:p>
            <a:pPr indent="0" lvl="0" marL="0" rtl="0" algn="l">
              <a:lnSpc>
                <a:spcPct val="115000"/>
              </a:lnSpc>
              <a:spcBef>
                <a:spcPts val="1600"/>
              </a:spcBef>
              <a:spcAft>
                <a:spcPts val="1600"/>
              </a:spcAft>
              <a:buClr>
                <a:srgbClr val="000000"/>
              </a:buClr>
              <a:buSzPts val="1100"/>
              <a:buFont typeface="Arial"/>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Building a Dockerfile</a:t>
            </a:r>
            <a:endParaRPr/>
          </a:p>
        </p:txBody>
      </p:sp>
      <p:sp>
        <p:nvSpPr>
          <p:cNvPr id="168" name="Google Shape;168;p18"/>
          <p:cNvSpPr txBox="1"/>
          <p:nvPr>
            <p:ph idx="1" type="body"/>
          </p:nvPr>
        </p:nvSpPr>
        <p:spPr>
          <a:xfrm>
            <a:off x="311700" y="1366589"/>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600"/>
              </a:spcBef>
              <a:spcAft>
                <a:spcPts val="0"/>
              </a:spcAft>
              <a:buSzPts val="1800"/>
              <a:buNone/>
            </a:pPr>
            <a:r>
              <a:rPr lang="en"/>
              <a:t>touch 1.py</a:t>
            </a:r>
            <a:endParaRPr/>
          </a:p>
          <a:p>
            <a:pPr indent="0" lvl="0" marL="0" rtl="0" algn="l">
              <a:lnSpc>
                <a:spcPct val="100000"/>
              </a:lnSpc>
              <a:spcBef>
                <a:spcPts val="1600"/>
              </a:spcBef>
              <a:spcAft>
                <a:spcPts val="0"/>
              </a:spcAft>
              <a:buSzPts val="1800"/>
              <a:buNone/>
            </a:pPr>
            <a:r>
              <a:rPr lang="en"/>
              <a:t>vim </a:t>
            </a:r>
            <a:r>
              <a:rPr lang="en" u="sng">
                <a:solidFill>
                  <a:schemeClr val="hlink"/>
                </a:solidFill>
                <a:hlinkClick r:id="rId3"/>
              </a:rPr>
              <a:t>1.py</a:t>
            </a:r>
            <a:endParaRPr/>
          </a:p>
          <a:p>
            <a:pPr indent="0" lvl="0" marL="0" rtl="0" algn="l">
              <a:lnSpc>
                <a:spcPct val="100000"/>
              </a:lnSpc>
              <a:spcBef>
                <a:spcPts val="1600"/>
              </a:spcBef>
              <a:spcAft>
                <a:spcPts val="0"/>
              </a:spcAft>
              <a:buSzPts val="1800"/>
              <a:buNone/>
            </a:pPr>
            <a:r>
              <a:t/>
            </a:r>
            <a:endParaRPr/>
          </a:p>
          <a:p>
            <a:pPr indent="0" lvl="0" marL="0" rtl="0" algn="l">
              <a:lnSpc>
                <a:spcPct val="100000"/>
              </a:lnSpc>
              <a:spcBef>
                <a:spcPts val="1600"/>
              </a:spcBef>
              <a:spcAft>
                <a:spcPts val="0"/>
              </a:spcAft>
              <a:buSzPts val="1800"/>
              <a:buNone/>
            </a:pPr>
            <a:r>
              <a:rPr lang="en"/>
              <a:t>import datetime</a:t>
            </a:r>
            <a:endParaRPr/>
          </a:p>
          <a:p>
            <a:pPr indent="0" lvl="0" marL="0" rtl="0" algn="l">
              <a:lnSpc>
                <a:spcPct val="100000"/>
              </a:lnSpc>
              <a:spcBef>
                <a:spcPts val="1600"/>
              </a:spcBef>
              <a:spcAft>
                <a:spcPts val="0"/>
              </a:spcAft>
              <a:buSzPts val="1800"/>
              <a:buNone/>
            </a:pPr>
            <a:r>
              <a:rPr lang="en"/>
              <a:t>print(datetime.datetime.now())</a:t>
            </a:r>
            <a:endParaRPr/>
          </a:p>
          <a:p>
            <a:pPr indent="0" lvl="0" marL="0" rtl="0" algn="l">
              <a:lnSpc>
                <a:spcPct val="100000"/>
              </a:lnSpc>
              <a:spcBef>
                <a:spcPts val="1600"/>
              </a:spcBef>
              <a:spcAft>
                <a:spcPts val="1600"/>
              </a:spcAft>
              <a:buSzPts val="1800"/>
              <a:buNone/>
            </a:pPr>
            <a:r>
              <a:rPr lang="en"/>
              <a:t>python3 1.py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Building a Dockerfile</a:t>
            </a:r>
            <a:endParaRPr/>
          </a:p>
        </p:txBody>
      </p:sp>
      <p:sp>
        <p:nvSpPr>
          <p:cNvPr id="174" name="Google Shape;174;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800"/>
              <a:buNone/>
            </a:pPr>
            <a:r>
              <a:rPr lang="en"/>
              <a:t>vim Dockerfile</a:t>
            </a:r>
            <a:endParaRPr/>
          </a:p>
          <a:p>
            <a:pPr indent="0" lvl="0" marL="0" rtl="0" algn="l">
              <a:spcBef>
                <a:spcPts val="1600"/>
              </a:spcBef>
              <a:spcAft>
                <a:spcPts val="0"/>
              </a:spcAft>
              <a:buNone/>
            </a:pPr>
            <a:r>
              <a:rPr i="1" lang="en"/>
              <a:t>FROM python:3</a:t>
            </a:r>
            <a:endParaRPr i="1"/>
          </a:p>
          <a:p>
            <a:pPr indent="0" lvl="0" marL="0" rtl="0" algn="l">
              <a:spcBef>
                <a:spcPts val="1600"/>
              </a:spcBef>
              <a:spcAft>
                <a:spcPts val="0"/>
              </a:spcAft>
              <a:buNone/>
            </a:pPr>
            <a:r>
              <a:rPr i="1" lang="en"/>
              <a:t>WORKDIR /usr/src</a:t>
            </a:r>
            <a:endParaRPr i="1"/>
          </a:p>
          <a:p>
            <a:pPr indent="0" lvl="0" marL="0" rtl="0" algn="l">
              <a:spcBef>
                <a:spcPts val="1600"/>
              </a:spcBef>
              <a:spcAft>
                <a:spcPts val="0"/>
              </a:spcAft>
              <a:buNone/>
            </a:pPr>
            <a:r>
              <a:rPr i="1" lang="en"/>
              <a:t>COPY first.py /usr/src </a:t>
            </a:r>
            <a:endParaRPr i="1"/>
          </a:p>
          <a:p>
            <a:pPr indent="0" lvl="0" marL="0" rtl="0" algn="l">
              <a:spcBef>
                <a:spcPts val="1600"/>
              </a:spcBef>
              <a:spcAft>
                <a:spcPts val="0"/>
              </a:spcAft>
              <a:buNone/>
            </a:pPr>
            <a:r>
              <a:rPr i="1" lang="en"/>
              <a:t>CMD ["python3","/usr/src/first.py"]</a:t>
            </a:r>
            <a:endParaRPr i="1"/>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Building a Dockerfile</a:t>
            </a:r>
            <a:endParaRPr/>
          </a:p>
        </p:txBody>
      </p:sp>
      <p:sp>
        <p:nvSpPr>
          <p:cNvPr id="180" name="Google Shape;180;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Let’s create an image from our Dockerfile</a:t>
            </a:r>
            <a:endParaRPr/>
          </a:p>
          <a:p>
            <a:pPr indent="0" lvl="0" marL="0" rtl="0" algn="l">
              <a:lnSpc>
                <a:spcPct val="115000"/>
              </a:lnSpc>
              <a:spcBef>
                <a:spcPts val="1600"/>
              </a:spcBef>
              <a:spcAft>
                <a:spcPts val="0"/>
              </a:spcAft>
              <a:buSzPts val="1800"/>
              <a:buNone/>
            </a:pPr>
            <a:r>
              <a:rPr b="1" lang="en"/>
              <a:t>docker build -t timestamp:1.0 .</a:t>
            </a:r>
            <a:endParaRPr b="1"/>
          </a:p>
          <a:p>
            <a:pPr indent="0" lvl="0" marL="0" rtl="0" algn="l">
              <a:lnSpc>
                <a:spcPct val="115000"/>
              </a:lnSpc>
              <a:spcBef>
                <a:spcPts val="1600"/>
              </a:spcBef>
              <a:spcAft>
                <a:spcPts val="0"/>
              </a:spcAft>
              <a:buSzPts val="1800"/>
              <a:buNone/>
            </a:pPr>
            <a:r>
              <a:rPr lang="en">
                <a:highlight>
                  <a:schemeClr val="dk1"/>
                </a:highlight>
              </a:rPr>
              <a:t>Don’t forget the dot in the end</a:t>
            </a:r>
            <a:endParaRPr>
              <a:highlight>
                <a:schemeClr val="dk1"/>
              </a:highlight>
            </a:endParaRPr>
          </a:p>
          <a:p>
            <a:pPr indent="0" lvl="0" marL="0" rtl="0" algn="l">
              <a:lnSpc>
                <a:spcPct val="115000"/>
              </a:lnSpc>
              <a:spcBef>
                <a:spcPts val="1600"/>
              </a:spcBef>
              <a:spcAft>
                <a:spcPts val="0"/>
              </a:spcAft>
              <a:buSzPts val="1800"/>
              <a:buNone/>
            </a:pPr>
            <a:r>
              <a:rPr lang="en"/>
              <a:t>This will download and extract everything your image needs to be able to run.</a:t>
            </a:r>
            <a:endParaRPr/>
          </a:p>
          <a:p>
            <a:pPr indent="0" lvl="0" marL="0" rtl="0" algn="l">
              <a:lnSpc>
                <a:spcPct val="115000"/>
              </a:lnSpc>
              <a:spcBef>
                <a:spcPts val="1600"/>
              </a:spcBef>
              <a:spcAft>
                <a:spcPts val="0"/>
              </a:spcAft>
              <a:buSzPts val="1800"/>
              <a:buNone/>
            </a:pPr>
            <a:r>
              <a:rPr lang="en"/>
              <a:t>Finally, you will see your steps executing one after the other with the result:</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1"/>
          <p:cNvPicPr preferRelativeResize="0"/>
          <p:nvPr/>
        </p:nvPicPr>
        <p:blipFill rotWithShape="1">
          <a:blip r:embed="rId3">
            <a:alphaModFix/>
          </a:blip>
          <a:srcRect b="0" l="0" r="0" t="0"/>
          <a:stretch/>
        </p:blipFill>
        <p:spPr>
          <a:xfrm>
            <a:off x="125875" y="72775"/>
            <a:ext cx="6123553" cy="4838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Building a Dockerfile</a:t>
            </a:r>
            <a:endParaRPr/>
          </a:p>
        </p:txBody>
      </p:sp>
      <p:sp>
        <p:nvSpPr>
          <p:cNvPr id="191" name="Google Shape;191;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Once all steps are done, you can run your</a:t>
            </a:r>
            <a:endParaRPr/>
          </a:p>
          <a:p>
            <a:pPr indent="-342900" lvl="0" marL="457200" rtl="0" algn="l">
              <a:lnSpc>
                <a:spcPct val="115000"/>
              </a:lnSpc>
              <a:spcBef>
                <a:spcPts val="0"/>
              </a:spcBef>
              <a:spcAft>
                <a:spcPts val="0"/>
              </a:spcAft>
              <a:buSzPts val="1800"/>
              <a:buChar char="●"/>
            </a:pPr>
            <a:r>
              <a:rPr lang="en"/>
              <a:t>image using the run command followed by your image name:</a:t>
            </a:r>
            <a:endParaRPr/>
          </a:p>
          <a:p>
            <a:pPr indent="-342900" lvl="0" marL="457200" rtl="0" algn="l">
              <a:lnSpc>
                <a:spcPct val="115000"/>
              </a:lnSpc>
              <a:spcBef>
                <a:spcPts val="0"/>
              </a:spcBef>
              <a:spcAft>
                <a:spcPts val="0"/>
              </a:spcAft>
              <a:buSzPts val="1800"/>
              <a:buChar char="●"/>
            </a:pPr>
            <a:r>
              <a:rPr lang="en"/>
              <a:t>The result should be the current time.</a:t>
            </a:r>
            <a:endParaRPr/>
          </a:p>
          <a:p>
            <a:pPr indent="0" lvl="0" marL="457200" rtl="0" algn="l">
              <a:lnSpc>
                <a:spcPct val="115000"/>
              </a:lnSpc>
              <a:spcBef>
                <a:spcPts val="1600"/>
              </a:spcBef>
              <a:spcAft>
                <a:spcPts val="1600"/>
              </a:spcAft>
              <a:buSzPts val="1800"/>
              <a:buNone/>
            </a:pPr>
            <a:r>
              <a:t/>
            </a:r>
            <a:endParaRPr/>
          </a:p>
        </p:txBody>
      </p:sp>
      <p:pic>
        <p:nvPicPr>
          <p:cNvPr id="192" name="Google Shape;192;p22"/>
          <p:cNvPicPr preferRelativeResize="0"/>
          <p:nvPr/>
        </p:nvPicPr>
        <p:blipFill rotWithShape="1">
          <a:blip r:embed="rId3">
            <a:alphaModFix/>
          </a:blip>
          <a:srcRect b="0" l="0" r="0" t="0"/>
          <a:stretch/>
        </p:blipFill>
        <p:spPr>
          <a:xfrm>
            <a:off x="816075" y="2436936"/>
            <a:ext cx="6766775" cy="4965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Docker Network</a:t>
            </a:r>
            <a:endParaRPr/>
          </a:p>
        </p:txBody>
      </p:sp>
      <p:sp>
        <p:nvSpPr>
          <p:cNvPr id="198" name="Google Shape;198;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With docker we can create a user-defined bridge network.</a:t>
            </a:r>
            <a:endParaRPr/>
          </a:p>
          <a:p>
            <a:pPr indent="-342900" lvl="0" marL="457200" rtl="0" algn="l">
              <a:lnSpc>
                <a:spcPct val="115000"/>
              </a:lnSpc>
              <a:spcBef>
                <a:spcPts val="0"/>
              </a:spcBef>
              <a:spcAft>
                <a:spcPts val="0"/>
              </a:spcAft>
              <a:buSzPts val="1800"/>
              <a:buChar char="●"/>
            </a:pPr>
            <a:r>
              <a:rPr lang="en"/>
              <a:t>It is a self-contained IP subnet and gateway. </a:t>
            </a:r>
            <a:endParaRPr/>
          </a:p>
          <a:p>
            <a:pPr indent="-342900" lvl="0" marL="457200" rtl="0" algn="l">
              <a:lnSpc>
                <a:spcPct val="115000"/>
              </a:lnSpc>
              <a:spcBef>
                <a:spcPts val="0"/>
              </a:spcBef>
              <a:spcAft>
                <a:spcPts val="0"/>
              </a:spcAft>
              <a:buSzPts val="1800"/>
              <a:buChar char="●"/>
            </a:pPr>
            <a:r>
              <a:rPr lang="en"/>
              <a:t>But unlike the default bridge, all containers within the user-defined bridge can communicate directly to one another without the need for port forwarding.</a:t>
            </a:r>
            <a:endParaRPr/>
          </a:p>
          <a:p>
            <a:pPr indent="-342900" lvl="0" marL="457200" rtl="0" algn="l">
              <a:lnSpc>
                <a:spcPct val="115000"/>
              </a:lnSpc>
              <a:spcBef>
                <a:spcPts val="0"/>
              </a:spcBef>
              <a:spcAft>
                <a:spcPts val="0"/>
              </a:spcAft>
              <a:buSzPts val="1800"/>
              <a:buChar char="●"/>
            </a:pPr>
            <a:r>
              <a:rPr lang="en"/>
              <a:t>Additionally, automatic discovery using DNS is fully supported on this network. </a:t>
            </a:r>
            <a:endParaRPr/>
          </a:p>
          <a:p>
            <a:pPr indent="-342900" lvl="0" marL="457200" rtl="0" algn="l">
              <a:lnSpc>
                <a:spcPct val="115000"/>
              </a:lnSpc>
              <a:spcBef>
                <a:spcPts val="0"/>
              </a:spcBef>
              <a:spcAft>
                <a:spcPts val="0"/>
              </a:spcAft>
              <a:buSzPts val="1800"/>
              <a:buChar char="●"/>
            </a:pPr>
            <a:r>
              <a:rPr lang="en"/>
              <a:t>If you want other devices in other networks to communicate with resources in your user-defined bridge network, you simply publish the TCP/UDP ports you need and Docker will expose the network addresses and ports to outside networks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Example</a:t>
            </a:r>
            <a:endParaRPr/>
          </a:p>
        </p:txBody>
      </p:sp>
      <p:sp>
        <p:nvSpPr>
          <p:cNvPr id="204" name="Google Shape;204;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
              <a:t>Create a network: docker network create &lt;network_name&gt;</a:t>
            </a:r>
            <a:endParaRPr/>
          </a:p>
          <a:p>
            <a:pPr indent="-342900" lvl="0" marL="457200" rtl="0" algn="l">
              <a:lnSpc>
                <a:spcPct val="115000"/>
              </a:lnSpc>
              <a:spcBef>
                <a:spcPts val="0"/>
              </a:spcBef>
              <a:spcAft>
                <a:spcPts val="0"/>
              </a:spcAft>
              <a:buSzPts val="1800"/>
              <a:buAutoNum type="arabicPeriod"/>
            </a:pPr>
            <a:r>
              <a:rPr lang="en"/>
              <a:t>List all networks: docker network ls </a:t>
            </a:r>
            <a:endParaRPr/>
          </a:p>
          <a:p>
            <a:pPr indent="-342900" lvl="0" marL="457200" rtl="0" algn="l">
              <a:lnSpc>
                <a:spcPct val="115000"/>
              </a:lnSpc>
              <a:spcBef>
                <a:spcPts val="0"/>
              </a:spcBef>
              <a:spcAft>
                <a:spcPts val="0"/>
              </a:spcAft>
              <a:buSzPts val="1800"/>
              <a:buAutoNum type="arabicPeriod"/>
            </a:pPr>
            <a:r>
              <a:rPr lang="en"/>
              <a:t>Remove a network: docker network rm &lt;network_name&gt;</a:t>
            </a:r>
            <a:endParaRPr/>
          </a:p>
          <a:p>
            <a:pPr indent="-342900" lvl="0" marL="457200" rtl="0" algn="l">
              <a:lnSpc>
                <a:spcPct val="115000"/>
              </a:lnSpc>
              <a:spcBef>
                <a:spcPts val="0"/>
              </a:spcBef>
              <a:spcAft>
                <a:spcPts val="0"/>
              </a:spcAft>
              <a:buSzPts val="1800"/>
              <a:buAutoNum type="arabicPeriod"/>
            </a:pPr>
            <a:r>
              <a:rPr lang="en"/>
              <a:t>Specifying a network to a specific network: </a:t>
            </a:r>
            <a:br>
              <a:rPr lang="en"/>
            </a:br>
            <a:r>
              <a:rPr lang="en"/>
              <a:t>Docker run --name &lt;container_name&gt; </a:t>
            </a:r>
            <a:r>
              <a:rPr b="1" lang="en"/>
              <a:t>--network &lt;network_name&gt;</a:t>
            </a:r>
            <a:r>
              <a:rPr lang="en"/>
              <a:t> &lt;image_name&gt;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Hands on</a:t>
            </a:r>
            <a:endParaRPr/>
          </a:p>
        </p:txBody>
      </p:sp>
      <p:sp>
        <p:nvSpPr>
          <p:cNvPr id="210" name="Google Shape;210;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600"/>
              </a:spcBef>
              <a:spcAft>
                <a:spcPts val="0"/>
              </a:spcAft>
              <a:buSzPts val="1800"/>
              <a:buNone/>
            </a:pPr>
            <a:r>
              <a:rPr lang="en" sz="1600"/>
              <a:t>docker network create nginx-network</a:t>
            </a:r>
            <a:endParaRPr sz="1600"/>
          </a:p>
          <a:p>
            <a:pPr indent="0" lvl="0" marL="0" rtl="0" algn="l">
              <a:lnSpc>
                <a:spcPct val="115000"/>
              </a:lnSpc>
              <a:spcBef>
                <a:spcPts val="1600"/>
              </a:spcBef>
              <a:spcAft>
                <a:spcPts val="0"/>
              </a:spcAft>
              <a:buSzPts val="1800"/>
              <a:buNone/>
            </a:pPr>
            <a:r>
              <a:rPr lang="en" sz="1600"/>
              <a:t>docker run --name nginx1 --rm</a:t>
            </a:r>
            <a:r>
              <a:rPr lang="en" sz="1600"/>
              <a:t> --network nginx-network -d nginx:alpine</a:t>
            </a:r>
            <a:endParaRPr sz="1600"/>
          </a:p>
          <a:p>
            <a:pPr indent="0" lvl="0" marL="0" rtl="0" algn="l">
              <a:lnSpc>
                <a:spcPct val="115000"/>
              </a:lnSpc>
              <a:spcBef>
                <a:spcPts val="1600"/>
              </a:spcBef>
              <a:spcAft>
                <a:spcPts val="0"/>
              </a:spcAft>
              <a:buSzPts val="1800"/>
              <a:buNone/>
            </a:pPr>
            <a:r>
              <a:rPr lang="en" sz="1600"/>
              <a:t>docker run --name nginx2 --rm --network nginx-network -d nginx:alpine</a:t>
            </a:r>
            <a:endParaRPr sz="1600"/>
          </a:p>
          <a:p>
            <a:pPr indent="0" lvl="0" marL="0" rtl="0" algn="l">
              <a:lnSpc>
                <a:spcPct val="115000"/>
              </a:lnSpc>
              <a:spcBef>
                <a:spcPts val="1600"/>
              </a:spcBef>
              <a:spcAft>
                <a:spcPts val="0"/>
              </a:spcAft>
              <a:buSzPts val="1800"/>
              <a:buNone/>
            </a:pPr>
            <a:r>
              <a:rPr lang="en" sz="1600"/>
              <a:t>docker exec -it nginx1 sh</a:t>
            </a:r>
            <a:endParaRPr sz="1600"/>
          </a:p>
          <a:p>
            <a:pPr indent="0" lvl="0" marL="0" rtl="0" algn="l">
              <a:lnSpc>
                <a:spcPct val="115000"/>
              </a:lnSpc>
              <a:spcBef>
                <a:spcPts val="1600"/>
              </a:spcBef>
              <a:spcAft>
                <a:spcPts val="0"/>
              </a:spcAft>
              <a:buSzPts val="1800"/>
              <a:buNone/>
            </a:pPr>
            <a:r>
              <a:rPr lang="en" sz="1600"/>
              <a:t>ping nginx2</a:t>
            </a:r>
            <a:endParaRPr sz="1600"/>
          </a:p>
          <a:p>
            <a:pPr indent="0" lvl="0" marL="0" rtl="0" algn="l">
              <a:lnSpc>
                <a:spcPct val="115000"/>
              </a:lnSpc>
              <a:spcBef>
                <a:spcPts val="1600"/>
              </a:spcBef>
              <a:spcAft>
                <a:spcPts val="0"/>
              </a:spcAft>
              <a:buSzPts val="1800"/>
              <a:buNone/>
            </a:pPr>
            <a:r>
              <a:t/>
            </a:r>
            <a:endParaRPr sz="1600"/>
          </a:p>
          <a:p>
            <a:pPr indent="0" lvl="0" marL="0" rtl="0" algn="l">
              <a:lnSpc>
                <a:spcPct val="115000"/>
              </a:lnSpc>
              <a:spcBef>
                <a:spcPts val="1600"/>
              </a:spcBef>
              <a:spcAft>
                <a:spcPts val="1600"/>
              </a:spcAft>
              <a:buSzPts val="1800"/>
              <a:buNone/>
            </a:pPr>
            <a:r>
              <a:t/>
            </a:r>
            <a:endParaRPr sz="16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Challenges</a:t>
            </a:r>
            <a:endParaRPr/>
          </a:p>
        </p:txBody>
      </p:sp>
      <p:sp>
        <p:nvSpPr>
          <p:cNvPr id="216" name="Google Shape;216;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
              <a:t>Create a small python script and execute it using the python:3 docker image.</a:t>
            </a:r>
            <a:endParaRPr/>
          </a:p>
          <a:p>
            <a:pPr indent="-342900" lvl="0" marL="457200" rtl="0" algn="l">
              <a:lnSpc>
                <a:spcPct val="115000"/>
              </a:lnSpc>
              <a:spcBef>
                <a:spcPts val="0"/>
              </a:spcBef>
              <a:spcAft>
                <a:spcPts val="0"/>
              </a:spcAft>
              <a:buSzPts val="1800"/>
              <a:buAutoNum type="arabicPeriod"/>
            </a:pPr>
            <a:r>
              <a:rPr lang="en"/>
              <a:t>Create a python file app.py with this content:</a:t>
            </a:r>
            <a:endParaRPr/>
          </a:p>
          <a:p>
            <a:pPr indent="0" lvl="0" marL="0" rtl="0" algn="l">
              <a:lnSpc>
                <a:spcPct val="142857"/>
              </a:lnSpc>
              <a:spcBef>
                <a:spcPts val="1600"/>
              </a:spcBef>
              <a:spcAft>
                <a:spcPts val="0"/>
              </a:spcAft>
              <a:buClr>
                <a:srgbClr val="000000"/>
              </a:buClr>
              <a:buSzPts val="1100"/>
              <a:buFont typeface="Arial"/>
              <a:buNone/>
            </a:pPr>
            <a:r>
              <a:rPr lang="en" sz="900">
                <a:solidFill>
                  <a:srgbClr val="D73A49"/>
                </a:solidFill>
                <a:highlight>
                  <a:srgbClr val="FFFFFF"/>
                </a:highlight>
                <a:latin typeface="Consolas"/>
                <a:ea typeface="Consolas"/>
                <a:cs typeface="Consolas"/>
                <a:sym typeface="Consolas"/>
              </a:rPr>
              <a:t>from</a:t>
            </a:r>
            <a:r>
              <a:rPr lang="en" sz="900">
                <a:solidFill>
                  <a:srgbClr val="24292E"/>
                </a:solidFill>
                <a:highlight>
                  <a:srgbClr val="FFFFFF"/>
                </a:highlight>
                <a:latin typeface="Consolas"/>
                <a:ea typeface="Consolas"/>
                <a:cs typeface="Consolas"/>
                <a:sym typeface="Consolas"/>
              </a:rPr>
              <a:t> flask </a:t>
            </a:r>
            <a:r>
              <a:rPr lang="en" sz="900">
                <a:solidFill>
                  <a:srgbClr val="D73A49"/>
                </a:solidFill>
                <a:highlight>
                  <a:srgbClr val="FFFFFF"/>
                </a:highlight>
                <a:latin typeface="Consolas"/>
                <a:ea typeface="Consolas"/>
                <a:cs typeface="Consolas"/>
                <a:sym typeface="Consolas"/>
              </a:rPr>
              <a:t>import</a:t>
            </a:r>
            <a:r>
              <a:rPr lang="en" sz="900">
                <a:solidFill>
                  <a:srgbClr val="24292E"/>
                </a:solidFill>
                <a:highlight>
                  <a:srgbClr val="FFFFFF"/>
                </a:highlight>
                <a:latin typeface="Consolas"/>
                <a:ea typeface="Consolas"/>
                <a:cs typeface="Consolas"/>
                <a:sym typeface="Consolas"/>
              </a:rPr>
              <a:t> Flask</a:t>
            </a:r>
            <a:endParaRPr sz="9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Clr>
                <a:srgbClr val="000000"/>
              </a:buClr>
              <a:buSzPts val="1100"/>
              <a:buFont typeface="Arial"/>
              <a:buNone/>
            </a:pPr>
            <a:r>
              <a:rPr lang="en" sz="900">
                <a:solidFill>
                  <a:srgbClr val="24292E"/>
                </a:solidFill>
                <a:highlight>
                  <a:srgbClr val="FFFFFF"/>
                </a:highlight>
                <a:latin typeface="Consolas"/>
                <a:ea typeface="Consolas"/>
                <a:cs typeface="Consolas"/>
                <a:sym typeface="Consolas"/>
              </a:rPr>
              <a:t>app </a:t>
            </a:r>
            <a:r>
              <a:rPr lang="en" sz="900">
                <a:solidFill>
                  <a:srgbClr val="D73A49"/>
                </a:solidFill>
                <a:highlight>
                  <a:srgbClr val="FFFFFF"/>
                </a:highlight>
                <a:latin typeface="Consolas"/>
                <a:ea typeface="Consolas"/>
                <a:cs typeface="Consolas"/>
                <a:sym typeface="Consolas"/>
              </a:rPr>
              <a:t>=</a:t>
            </a:r>
            <a:r>
              <a:rPr lang="en" sz="900">
                <a:solidFill>
                  <a:srgbClr val="24292E"/>
                </a:solidFill>
                <a:highlight>
                  <a:srgbClr val="FFFFFF"/>
                </a:highlight>
                <a:latin typeface="Consolas"/>
                <a:ea typeface="Consolas"/>
                <a:cs typeface="Consolas"/>
                <a:sym typeface="Consolas"/>
              </a:rPr>
              <a:t> Flask(</a:t>
            </a:r>
            <a:r>
              <a:rPr lang="en" sz="900">
                <a:solidFill>
                  <a:srgbClr val="005CC5"/>
                </a:solidFill>
                <a:highlight>
                  <a:srgbClr val="FFFFFF"/>
                </a:highlight>
                <a:latin typeface="Consolas"/>
                <a:ea typeface="Consolas"/>
                <a:cs typeface="Consolas"/>
                <a:sym typeface="Consolas"/>
              </a:rPr>
              <a:t>__name__</a:t>
            </a:r>
            <a:r>
              <a:rPr lang="en" sz="900">
                <a:solidFill>
                  <a:srgbClr val="24292E"/>
                </a:solidFill>
                <a:highlight>
                  <a:srgbClr val="FFFFFF"/>
                </a:highlight>
                <a:latin typeface="Consolas"/>
                <a:ea typeface="Consolas"/>
                <a:cs typeface="Consolas"/>
                <a:sym typeface="Consolas"/>
              </a:rPr>
              <a:t>)</a:t>
            </a:r>
            <a:endParaRPr sz="9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Clr>
                <a:srgbClr val="000000"/>
              </a:buClr>
              <a:buSzPts val="1100"/>
              <a:buFont typeface="Arial"/>
              <a:buNone/>
            </a:pPr>
            <a:r>
              <a:rPr lang="en" sz="900">
                <a:solidFill>
                  <a:srgbClr val="6F42C1"/>
                </a:solidFill>
                <a:highlight>
                  <a:srgbClr val="FFFFFF"/>
                </a:highlight>
                <a:latin typeface="Consolas"/>
                <a:ea typeface="Consolas"/>
                <a:cs typeface="Consolas"/>
                <a:sym typeface="Consolas"/>
              </a:rPr>
              <a:t>@app.route</a:t>
            </a:r>
            <a:r>
              <a:rPr lang="en" sz="900">
                <a:solidFill>
                  <a:srgbClr val="24292E"/>
                </a:solidFill>
                <a:highlight>
                  <a:srgbClr val="FFFFFF"/>
                </a:highlight>
                <a:latin typeface="Consolas"/>
                <a:ea typeface="Consolas"/>
                <a:cs typeface="Consolas"/>
                <a:sym typeface="Consolas"/>
              </a:rPr>
              <a:t>(</a:t>
            </a:r>
            <a:r>
              <a:rPr lang="en" sz="900">
                <a:solidFill>
                  <a:srgbClr val="032F62"/>
                </a:solidFill>
                <a:highlight>
                  <a:srgbClr val="FFFFFF"/>
                </a:highlight>
                <a:latin typeface="Consolas"/>
                <a:ea typeface="Consolas"/>
                <a:cs typeface="Consolas"/>
                <a:sym typeface="Consolas"/>
              </a:rPr>
              <a:t>'/'</a:t>
            </a:r>
            <a:r>
              <a:rPr lang="en" sz="900">
                <a:solidFill>
                  <a:srgbClr val="24292E"/>
                </a:solidFill>
                <a:highlight>
                  <a:srgbClr val="FFFFFF"/>
                </a:highlight>
                <a:latin typeface="Consolas"/>
                <a:ea typeface="Consolas"/>
                <a:cs typeface="Consolas"/>
                <a:sym typeface="Consolas"/>
              </a:rPr>
              <a:t>)</a:t>
            </a:r>
            <a:endParaRPr sz="9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Clr>
                <a:srgbClr val="000000"/>
              </a:buClr>
              <a:buSzPts val="1100"/>
              <a:buFont typeface="Arial"/>
              <a:buNone/>
            </a:pPr>
            <a:r>
              <a:rPr lang="en" sz="900">
                <a:solidFill>
                  <a:srgbClr val="D73A49"/>
                </a:solidFill>
                <a:highlight>
                  <a:srgbClr val="FFFFFF"/>
                </a:highlight>
                <a:latin typeface="Consolas"/>
                <a:ea typeface="Consolas"/>
                <a:cs typeface="Consolas"/>
                <a:sym typeface="Consolas"/>
              </a:rPr>
              <a:t>def</a:t>
            </a:r>
            <a:r>
              <a:rPr lang="en" sz="900">
                <a:solidFill>
                  <a:srgbClr val="24292E"/>
                </a:solidFill>
                <a:highlight>
                  <a:srgbClr val="FFFFFF"/>
                </a:highlight>
                <a:latin typeface="Consolas"/>
                <a:ea typeface="Consolas"/>
                <a:cs typeface="Consolas"/>
                <a:sym typeface="Consolas"/>
              </a:rPr>
              <a:t> </a:t>
            </a:r>
            <a:r>
              <a:rPr lang="en" sz="900">
                <a:solidFill>
                  <a:srgbClr val="6F42C1"/>
                </a:solidFill>
                <a:highlight>
                  <a:srgbClr val="FFFFFF"/>
                </a:highlight>
                <a:latin typeface="Consolas"/>
                <a:ea typeface="Consolas"/>
                <a:cs typeface="Consolas"/>
                <a:sym typeface="Consolas"/>
              </a:rPr>
              <a:t>hello_world</a:t>
            </a:r>
            <a:r>
              <a:rPr lang="en" sz="900">
                <a:solidFill>
                  <a:srgbClr val="24292E"/>
                </a:solidFill>
                <a:highlight>
                  <a:srgbClr val="FFFFFF"/>
                </a:highlight>
                <a:latin typeface="Consolas"/>
                <a:ea typeface="Consolas"/>
                <a:cs typeface="Consolas"/>
                <a:sym typeface="Consolas"/>
              </a:rPr>
              <a:t>():</a:t>
            </a:r>
            <a:endParaRPr sz="9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Clr>
                <a:srgbClr val="000000"/>
              </a:buClr>
              <a:buSzPts val="1100"/>
              <a:buFont typeface="Arial"/>
              <a:buNone/>
            </a:pPr>
            <a:r>
              <a:rPr lang="en" sz="900">
                <a:solidFill>
                  <a:srgbClr val="24292E"/>
                </a:solidFill>
                <a:highlight>
                  <a:srgbClr val="FFFFFF"/>
                </a:highlight>
                <a:latin typeface="Consolas"/>
                <a:ea typeface="Consolas"/>
                <a:cs typeface="Consolas"/>
                <a:sym typeface="Consolas"/>
              </a:rPr>
              <a:t>   </a:t>
            </a:r>
            <a:r>
              <a:rPr lang="en" sz="900">
                <a:solidFill>
                  <a:srgbClr val="D73A49"/>
                </a:solidFill>
                <a:highlight>
                  <a:srgbClr val="FFFFFF"/>
                </a:highlight>
                <a:latin typeface="Consolas"/>
                <a:ea typeface="Consolas"/>
                <a:cs typeface="Consolas"/>
                <a:sym typeface="Consolas"/>
              </a:rPr>
              <a:t>return</a:t>
            </a:r>
            <a:r>
              <a:rPr lang="en" sz="900">
                <a:solidFill>
                  <a:srgbClr val="24292E"/>
                </a:solidFill>
                <a:highlight>
                  <a:srgbClr val="FFFFFF"/>
                </a:highlight>
                <a:latin typeface="Consolas"/>
                <a:ea typeface="Consolas"/>
                <a:cs typeface="Consolas"/>
                <a:sym typeface="Consolas"/>
              </a:rPr>
              <a:t> </a:t>
            </a:r>
            <a:r>
              <a:rPr lang="en" sz="900">
                <a:solidFill>
                  <a:srgbClr val="032F62"/>
                </a:solidFill>
                <a:highlight>
                  <a:srgbClr val="FFFFFF"/>
                </a:highlight>
                <a:latin typeface="Consolas"/>
                <a:ea typeface="Consolas"/>
                <a:cs typeface="Consolas"/>
                <a:sym typeface="Consolas"/>
              </a:rPr>
              <a:t>'Hello! I am a Flask application'</a:t>
            </a:r>
            <a:endParaRPr sz="900">
              <a:solidFill>
                <a:srgbClr val="24292E"/>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SzPts val="1800"/>
              <a:buNone/>
            </a:pPr>
            <a:r>
              <a:rPr lang="en" sz="900">
                <a:solidFill>
                  <a:srgbClr val="D73A49"/>
                </a:solidFill>
                <a:highlight>
                  <a:srgbClr val="FFFFFF"/>
                </a:highlight>
                <a:latin typeface="Consolas"/>
                <a:ea typeface="Consolas"/>
                <a:cs typeface="Consolas"/>
                <a:sym typeface="Consolas"/>
              </a:rPr>
              <a:t>if</a:t>
            </a:r>
            <a:r>
              <a:rPr lang="en" sz="900">
                <a:solidFill>
                  <a:srgbClr val="24292E"/>
                </a:solidFill>
                <a:highlight>
                  <a:srgbClr val="FFFFFF"/>
                </a:highlight>
                <a:latin typeface="Consolas"/>
                <a:ea typeface="Consolas"/>
                <a:cs typeface="Consolas"/>
                <a:sym typeface="Consolas"/>
              </a:rPr>
              <a:t> </a:t>
            </a:r>
            <a:r>
              <a:rPr lang="en" sz="900">
                <a:solidFill>
                  <a:srgbClr val="005CC5"/>
                </a:solidFill>
                <a:highlight>
                  <a:srgbClr val="FFFFFF"/>
                </a:highlight>
                <a:latin typeface="Consolas"/>
                <a:ea typeface="Consolas"/>
                <a:cs typeface="Consolas"/>
                <a:sym typeface="Consolas"/>
              </a:rPr>
              <a:t>__name__</a:t>
            </a:r>
            <a:r>
              <a:rPr lang="en" sz="900">
                <a:solidFill>
                  <a:srgbClr val="24292E"/>
                </a:solidFill>
                <a:highlight>
                  <a:srgbClr val="FFFFFF"/>
                </a:highlight>
                <a:latin typeface="Consolas"/>
                <a:ea typeface="Consolas"/>
                <a:cs typeface="Consolas"/>
                <a:sym typeface="Consolas"/>
              </a:rPr>
              <a:t> </a:t>
            </a:r>
            <a:r>
              <a:rPr lang="en" sz="900">
                <a:solidFill>
                  <a:srgbClr val="D73A49"/>
                </a:solidFill>
                <a:highlight>
                  <a:srgbClr val="FFFFFF"/>
                </a:highlight>
                <a:latin typeface="Consolas"/>
                <a:ea typeface="Consolas"/>
                <a:cs typeface="Consolas"/>
                <a:sym typeface="Consolas"/>
              </a:rPr>
              <a:t>==</a:t>
            </a:r>
            <a:r>
              <a:rPr lang="en" sz="900">
                <a:solidFill>
                  <a:srgbClr val="24292E"/>
                </a:solidFill>
                <a:highlight>
                  <a:srgbClr val="FFFFFF"/>
                </a:highlight>
                <a:latin typeface="Consolas"/>
                <a:ea typeface="Consolas"/>
                <a:cs typeface="Consolas"/>
                <a:sym typeface="Consolas"/>
              </a:rPr>
              <a:t> </a:t>
            </a:r>
            <a:r>
              <a:rPr lang="en" sz="900">
                <a:solidFill>
                  <a:srgbClr val="032F62"/>
                </a:solidFill>
                <a:highlight>
                  <a:srgbClr val="FFFFFF"/>
                </a:highlight>
                <a:latin typeface="Consolas"/>
                <a:ea typeface="Consolas"/>
                <a:cs typeface="Consolas"/>
                <a:sym typeface="Consolas"/>
              </a:rPr>
              <a:t>'__main__'</a:t>
            </a:r>
            <a:r>
              <a:rPr lang="en" sz="900">
                <a:solidFill>
                  <a:srgbClr val="24292E"/>
                </a:solidFill>
                <a:highlight>
                  <a:srgbClr val="FFFFFF"/>
                </a:highlight>
                <a:latin typeface="Consolas"/>
                <a:ea typeface="Consolas"/>
                <a:cs typeface="Consolas"/>
                <a:sym typeface="Consolas"/>
              </a:rPr>
              <a:t>:</a:t>
            </a:r>
            <a:endParaRPr sz="900">
              <a:solidFill>
                <a:srgbClr val="6A737D"/>
              </a:solidFill>
              <a:highlight>
                <a:srgbClr val="FFFFFF"/>
              </a:highlight>
              <a:latin typeface="Consolas"/>
              <a:ea typeface="Consolas"/>
              <a:cs typeface="Consolas"/>
              <a:sym typeface="Consolas"/>
            </a:endParaRPr>
          </a:p>
          <a:p>
            <a:pPr indent="0" lvl="0" marL="0" rtl="0" algn="l">
              <a:lnSpc>
                <a:spcPct val="142857"/>
              </a:lnSpc>
              <a:spcBef>
                <a:spcPts val="0"/>
              </a:spcBef>
              <a:spcAft>
                <a:spcPts val="0"/>
              </a:spcAft>
              <a:buClr>
                <a:srgbClr val="000000"/>
              </a:buClr>
              <a:buSzPts val="1100"/>
              <a:buFont typeface="Arial"/>
              <a:buNone/>
            </a:pPr>
            <a:r>
              <a:rPr lang="en" sz="900">
                <a:solidFill>
                  <a:srgbClr val="24292E"/>
                </a:solidFill>
                <a:highlight>
                  <a:srgbClr val="FFFFFF"/>
                </a:highlight>
                <a:latin typeface="Consolas"/>
                <a:ea typeface="Consolas"/>
                <a:cs typeface="Consolas"/>
                <a:sym typeface="Consolas"/>
              </a:rPr>
              <a:t>   app.run(</a:t>
            </a:r>
            <a:r>
              <a:rPr lang="en" sz="900">
                <a:solidFill>
                  <a:srgbClr val="E36209"/>
                </a:solidFill>
                <a:highlight>
                  <a:srgbClr val="FFFFFF"/>
                </a:highlight>
                <a:latin typeface="Consolas"/>
                <a:ea typeface="Consolas"/>
                <a:cs typeface="Consolas"/>
                <a:sym typeface="Consolas"/>
              </a:rPr>
              <a:t>host</a:t>
            </a:r>
            <a:r>
              <a:rPr lang="en" sz="900">
                <a:solidFill>
                  <a:srgbClr val="D73A49"/>
                </a:solidFill>
                <a:highlight>
                  <a:srgbClr val="FFFFFF"/>
                </a:highlight>
                <a:latin typeface="Consolas"/>
                <a:ea typeface="Consolas"/>
                <a:cs typeface="Consolas"/>
                <a:sym typeface="Consolas"/>
              </a:rPr>
              <a:t>=</a:t>
            </a:r>
            <a:r>
              <a:rPr lang="en" sz="900">
                <a:solidFill>
                  <a:srgbClr val="032F62"/>
                </a:solidFill>
                <a:highlight>
                  <a:srgbClr val="FFFFFF"/>
                </a:highlight>
                <a:latin typeface="Consolas"/>
                <a:ea typeface="Consolas"/>
                <a:cs typeface="Consolas"/>
                <a:sym typeface="Consolas"/>
              </a:rPr>
              <a:t>'0.0.0.0'</a:t>
            </a:r>
            <a:r>
              <a:rPr lang="en" sz="900">
                <a:solidFill>
                  <a:srgbClr val="24292E"/>
                </a:solidFill>
                <a:highlight>
                  <a:srgbClr val="FFFFFF"/>
                </a:highlight>
                <a:latin typeface="Consolas"/>
                <a:ea typeface="Consolas"/>
                <a:cs typeface="Consolas"/>
                <a:sym typeface="Consolas"/>
              </a:rPr>
              <a:t>)</a:t>
            </a:r>
            <a:endParaRPr sz="900">
              <a:solidFill>
                <a:srgbClr val="24292E"/>
              </a:solidFill>
              <a:highlight>
                <a:srgbClr val="FFFFFF"/>
              </a:highlight>
              <a:latin typeface="Consolas"/>
              <a:ea typeface="Consolas"/>
              <a:cs typeface="Consolas"/>
              <a:sym typeface="Consolas"/>
            </a:endParaRPr>
          </a:p>
          <a:p>
            <a:pPr indent="0" lvl="0" marL="0" rtl="0" algn="l">
              <a:lnSpc>
                <a:spcPct val="115000"/>
              </a:lnSpc>
              <a:spcBef>
                <a:spcPts val="0"/>
              </a:spcBef>
              <a:spcAft>
                <a:spcPts val="1600"/>
              </a:spcAft>
              <a:buSzPts val="1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Docker registry and DockerHub</a:t>
            </a:r>
            <a:endParaRPr/>
          </a:p>
        </p:txBody>
      </p:sp>
      <p:sp>
        <p:nvSpPr>
          <p:cNvPr id="222" name="Google Shape;222;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A registry is a storage and content delivery system, holding named Docker images, available in different tagged versions.</a:t>
            </a:r>
            <a:endParaRPr/>
          </a:p>
          <a:p>
            <a:pPr indent="-342900" lvl="0" marL="457200" rtl="0" algn="l">
              <a:lnSpc>
                <a:spcPct val="115000"/>
              </a:lnSpc>
              <a:spcBef>
                <a:spcPts val="0"/>
              </a:spcBef>
              <a:spcAft>
                <a:spcPts val="0"/>
              </a:spcAft>
              <a:buSzPts val="1800"/>
              <a:buChar char="●"/>
            </a:pPr>
            <a:r>
              <a:rPr lang="en"/>
              <a:t>Users interact with a registry by using docker push and pull commands.</a:t>
            </a:r>
            <a:endParaRPr/>
          </a:p>
          <a:p>
            <a:pPr indent="-342900" lvl="0" marL="457200" rtl="0" algn="l">
              <a:lnSpc>
                <a:spcPct val="115000"/>
              </a:lnSpc>
              <a:spcBef>
                <a:spcPts val="0"/>
              </a:spcBef>
              <a:spcAft>
                <a:spcPts val="0"/>
              </a:spcAft>
              <a:buSzPts val="1800"/>
              <a:buChar char="●"/>
            </a:pPr>
            <a:r>
              <a:rPr lang="en"/>
              <a:t>Docker repositories allow you share container images with your team, customers, or the Docker community at large.</a:t>
            </a:r>
            <a:endParaRPr/>
          </a:p>
          <a:p>
            <a:pPr indent="-342900" lvl="0" marL="457200" rtl="0" algn="l">
              <a:lnSpc>
                <a:spcPct val="115000"/>
              </a:lnSpc>
              <a:spcBef>
                <a:spcPts val="0"/>
              </a:spcBef>
              <a:spcAft>
                <a:spcPts val="0"/>
              </a:spcAft>
              <a:buSzPts val="1800"/>
              <a:buChar char="●"/>
            </a:pPr>
            <a:r>
              <a:rPr lang="en"/>
              <a:t>Docker images are pushed to Docker Hub through the docker push command. A single Docker Hub repository can hold many Docker images (stored as tags).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24e871edc3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400"/>
              </a:spcBef>
              <a:spcAft>
                <a:spcPts val="400"/>
              </a:spcAft>
              <a:buSzPts val="3600"/>
              <a:buNone/>
            </a:pPr>
            <a:r>
              <a:rPr lang="en"/>
              <a:t>What is Docker Multi-Stage Build?</a:t>
            </a:r>
            <a:endParaRPr/>
          </a:p>
        </p:txBody>
      </p:sp>
      <p:sp>
        <p:nvSpPr>
          <p:cNvPr id="228" name="Google Shape;228;g324e871edc3_0_0"/>
          <p:cNvSpPr txBox="1"/>
          <p:nvPr>
            <p:ph idx="1" type="body"/>
          </p:nvPr>
        </p:nvSpPr>
        <p:spPr>
          <a:xfrm>
            <a:off x="311700" y="1035400"/>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SzPts val="1800"/>
              <a:buNone/>
            </a:pPr>
            <a:r>
              <a:t/>
            </a:r>
            <a:endParaRPr b="1" sz="1300">
              <a:solidFill>
                <a:srgbClr val="000000"/>
              </a:solidFill>
              <a:latin typeface="Arial"/>
              <a:ea typeface="Arial"/>
              <a:cs typeface="Arial"/>
              <a:sym typeface="Arial"/>
            </a:endParaRPr>
          </a:p>
          <a:p>
            <a:pPr indent="-342900" lvl="0" marL="457200" rtl="0" algn="l">
              <a:lnSpc>
                <a:spcPct val="115000"/>
              </a:lnSpc>
              <a:spcBef>
                <a:spcPts val="1200"/>
              </a:spcBef>
              <a:spcAft>
                <a:spcPts val="0"/>
              </a:spcAft>
              <a:buSzPts val="1800"/>
              <a:buChar char="●"/>
            </a:pPr>
            <a:r>
              <a:rPr lang="en"/>
              <a:t>Docker multi-stage build is a feature that allows defining multiple stages in a single Dockerfile by using multiple FROM instructions. Each FROM starts a new stage, enabling you to build intermediate images and copy only the necessary artifacts into the final image.</a:t>
            </a:r>
            <a:endParaRPr/>
          </a:p>
          <a:p>
            <a:pPr indent="-342900" lvl="0" marL="457200" rtl="0" algn="l">
              <a:lnSpc>
                <a:spcPct val="115000"/>
              </a:lnSpc>
              <a:spcBef>
                <a:spcPts val="0"/>
              </a:spcBef>
              <a:spcAft>
                <a:spcPts val="0"/>
              </a:spcAft>
              <a:buSzPts val="1800"/>
              <a:buChar char="●"/>
            </a:pPr>
            <a:r>
              <a:rPr lang="en"/>
              <a:t>The key idea is to break down the build process into several steps (stages), where only the last stage contains the minimal runtime environment required to run the application. Intermediate stages may include tools and dependencies used for compiling or processing, but these are not present in the final image.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24e871edc3_0_6"/>
          <p:cNvSpPr txBox="1"/>
          <p:nvPr>
            <p:ph type="title"/>
          </p:nvPr>
        </p:nvSpPr>
        <p:spPr>
          <a:xfrm>
            <a:off x="311700" y="151100"/>
            <a:ext cx="8520600" cy="7074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400"/>
              </a:spcBef>
              <a:spcAft>
                <a:spcPts val="0"/>
              </a:spcAft>
              <a:buSzPts val="3600"/>
              <a:buNone/>
            </a:pPr>
            <a:r>
              <a:rPr lang="en"/>
              <a:t>Why Use Docker Multi-Stage Build?</a:t>
            </a:r>
            <a:endParaRPr/>
          </a:p>
          <a:p>
            <a:pPr indent="0" lvl="0" marL="457200" rtl="0" algn="l">
              <a:lnSpc>
                <a:spcPct val="115000"/>
              </a:lnSpc>
              <a:spcBef>
                <a:spcPts val="1400"/>
              </a:spcBef>
              <a:spcAft>
                <a:spcPts val="400"/>
              </a:spcAft>
              <a:buSzPts val="3600"/>
              <a:buNone/>
            </a:pPr>
            <a:r>
              <a:t/>
            </a:r>
            <a:endParaRPr/>
          </a:p>
        </p:txBody>
      </p:sp>
      <p:sp>
        <p:nvSpPr>
          <p:cNvPr id="234" name="Google Shape;234;g324e871edc3_0_6"/>
          <p:cNvSpPr txBox="1"/>
          <p:nvPr>
            <p:ph idx="1" type="body"/>
          </p:nvPr>
        </p:nvSpPr>
        <p:spPr>
          <a:xfrm>
            <a:off x="311700" y="1035400"/>
            <a:ext cx="8520600" cy="330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a:t>Multi-stage builds help produce much smaller images by only including the essential artifacts in the final image. The intermediate stages (which might contain compilers, build tools, and dependencies) are discarded, keeping the final image lightweight.</a:t>
            </a:r>
            <a:endParaRPr/>
          </a:p>
          <a:p>
            <a:pPr indent="0" lvl="0" marL="0" rtl="0" algn="l">
              <a:lnSpc>
                <a:spcPct val="115000"/>
              </a:lnSpc>
              <a:spcBef>
                <a:spcPts val="1200"/>
              </a:spcBef>
              <a:spcAft>
                <a:spcPts val="0"/>
              </a:spcAft>
              <a:buSzPts val="1800"/>
              <a:buNone/>
            </a:pPr>
            <a:r>
              <a:rPr lang="en"/>
              <a:t>Example:</a:t>
            </a:r>
            <a:br>
              <a:rPr lang="en"/>
            </a:br>
            <a:r>
              <a:rPr lang="en"/>
              <a:t>Instead of shipping an image with both the build tools and the compiled binary, you can copy just the compiled binary into a minimal base image like alpine.</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t/>
            </a:r>
            <a:endParaRPr b="1" sz="3600">
              <a:solidFill>
                <a:schemeClr val="accent1"/>
              </a:solidFill>
              <a:latin typeface="PT Sans Narrow"/>
              <a:ea typeface="PT Sans Narrow"/>
              <a:cs typeface="PT Sans Narrow"/>
              <a:sym typeface="PT Sans Narro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g3296ff3373d_0_0"/>
          <p:cNvPicPr preferRelativeResize="0"/>
          <p:nvPr/>
        </p:nvPicPr>
        <p:blipFill rotWithShape="1">
          <a:blip r:embed="rId3">
            <a:alphaModFix/>
          </a:blip>
          <a:srcRect b="0" l="0" r="0" t="0"/>
          <a:stretch/>
        </p:blipFill>
        <p:spPr>
          <a:xfrm>
            <a:off x="812525" y="119800"/>
            <a:ext cx="7953178" cy="48387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24e871edc3_0_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Reduce Image Size</a:t>
            </a:r>
            <a:endParaRPr/>
          </a:p>
          <a:p>
            <a:pPr indent="0" lvl="0" marL="0" rtl="0" algn="l">
              <a:lnSpc>
                <a:spcPct val="100000"/>
              </a:lnSpc>
              <a:spcBef>
                <a:spcPts val="0"/>
              </a:spcBef>
              <a:spcAft>
                <a:spcPts val="0"/>
              </a:spcAft>
              <a:buSzPts val="3600"/>
              <a:buNone/>
            </a:pPr>
            <a:r>
              <a:t/>
            </a:r>
            <a:endParaRPr/>
          </a:p>
        </p:txBody>
      </p:sp>
      <p:sp>
        <p:nvSpPr>
          <p:cNvPr id="245" name="Google Shape;245;g324e871edc3_0_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a:t>Multi-stage builds help produce much smaller images by only including the essential artifacts in the final image. The intermediate stages (which might contain compilers, build tools, and dependencies) are discarded, keeping the final image lightweight.</a:t>
            </a:r>
            <a:endParaRPr/>
          </a:p>
          <a:p>
            <a:pPr indent="0" lvl="0" marL="0" rtl="0" algn="l">
              <a:lnSpc>
                <a:spcPct val="115000"/>
              </a:lnSpc>
              <a:spcBef>
                <a:spcPts val="1200"/>
              </a:spcBef>
              <a:spcAft>
                <a:spcPts val="0"/>
              </a:spcAft>
              <a:buSzPts val="1800"/>
              <a:buNone/>
            </a:pPr>
            <a:r>
              <a:rPr lang="en"/>
              <a:t>Example:</a:t>
            </a:r>
            <a:br>
              <a:rPr lang="en"/>
            </a:br>
            <a:r>
              <a:rPr lang="en"/>
              <a:t>Instead of shipping an image with both the build tools and the compiled binary, you can copy just the compiled binary into a minimal base image like alpine.</a:t>
            </a:r>
            <a:endParaRPr sz="1100">
              <a:solidFill>
                <a:srgbClr val="000000"/>
              </a:solidFill>
              <a:latin typeface="Arial"/>
              <a:ea typeface="Arial"/>
              <a:cs typeface="Arial"/>
              <a:sym typeface="Arial"/>
            </a:endParaRPr>
          </a:p>
          <a:p>
            <a:pPr indent="0" lvl="0" marL="0" marR="0" rtl="0" algn="l">
              <a:lnSpc>
                <a:spcPct val="100000"/>
              </a:lnSpc>
              <a:spcBef>
                <a:spcPts val="1200"/>
              </a:spcBef>
              <a:spcAft>
                <a:spcPts val="0"/>
              </a:spcAft>
              <a:buSzPts val="1800"/>
              <a:buNone/>
            </a:pPr>
            <a:r>
              <a:t/>
            </a:r>
            <a:endParaRPr b="1" sz="3600">
              <a:solidFill>
                <a:schemeClr val="accent1"/>
              </a:solidFill>
              <a:latin typeface="PT Sans Narrow"/>
              <a:ea typeface="PT Sans Narrow"/>
              <a:cs typeface="PT Sans Narrow"/>
              <a:sym typeface="PT Sans Narrow"/>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24e871edc3_0_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Improve Security</a:t>
            </a:r>
            <a:endParaRPr b="0" sz="1800">
              <a:solidFill>
                <a:schemeClr val="dk2"/>
              </a:solidFill>
              <a:latin typeface="Open Sans"/>
              <a:ea typeface="Open Sans"/>
              <a:cs typeface="Open Sans"/>
              <a:sym typeface="Open Sans"/>
            </a:endParaRPr>
          </a:p>
          <a:p>
            <a:pPr indent="0" lvl="0" marL="0" rtl="0" algn="l">
              <a:lnSpc>
                <a:spcPct val="100000"/>
              </a:lnSpc>
              <a:spcBef>
                <a:spcPts val="0"/>
              </a:spcBef>
              <a:spcAft>
                <a:spcPts val="0"/>
              </a:spcAft>
              <a:buSzPts val="3600"/>
              <a:buNone/>
            </a:pPr>
            <a:r>
              <a:t/>
            </a:r>
            <a:endParaRPr/>
          </a:p>
          <a:p>
            <a:pPr indent="0" lvl="0" marL="0" rtl="0" algn="l">
              <a:lnSpc>
                <a:spcPct val="100000"/>
              </a:lnSpc>
              <a:spcBef>
                <a:spcPts val="0"/>
              </a:spcBef>
              <a:spcAft>
                <a:spcPts val="0"/>
              </a:spcAft>
              <a:buSzPts val="3600"/>
              <a:buNone/>
            </a:pPr>
            <a:r>
              <a:t/>
            </a:r>
            <a:endParaRPr/>
          </a:p>
        </p:txBody>
      </p:sp>
      <p:sp>
        <p:nvSpPr>
          <p:cNvPr id="251" name="Google Shape;251;g324e871edc3_0_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800"/>
              <a:buNone/>
            </a:pPr>
            <a:r>
              <a:rPr lang="en"/>
              <a:t>By excluding unnecessary tools, libraries, and build-time dependencies, multi-stage builds minimize the attack surface of the image. The smaller the final image, the fewer potential vulnerabilities it has.</a:t>
            </a:r>
            <a:endParaRPr/>
          </a:p>
          <a:p>
            <a:pPr indent="0" lvl="0" marL="0" marR="0" rtl="0" algn="l">
              <a:lnSpc>
                <a:spcPct val="100000"/>
              </a:lnSpc>
              <a:spcBef>
                <a:spcPts val="0"/>
              </a:spcBef>
              <a:spcAft>
                <a:spcPts val="0"/>
              </a:spcAft>
              <a:buSzPts val="18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Docker image convention</a:t>
            </a:r>
            <a:endParaRPr/>
          </a:p>
        </p:txBody>
      </p:sp>
      <p:sp>
        <p:nvSpPr>
          <p:cNvPr id="257" name="Google Shape;257;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                      </a:t>
            </a:r>
            <a:r>
              <a:rPr b="1" lang="en"/>
              <a:t>docker.io</a:t>
            </a:r>
            <a:r>
              <a:rPr lang="en" sz="2400"/>
              <a:t>/</a:t>
            </a:r>
            <a:r>
              <a:rPr b="1" lang="en"/>
              <a:t>eduardusatchev</a:t>
            </a:r>
            <a:r>
              <a:rPr lang="en" sz="2400"/>
              <a:t>/</a:t>
            </a:r>
            <a:r>
              <a:rPr b="1" lang="en"/>
              <a:t>my-first-image</a:t>
            </a:r>
            <a:r>
              <a:rPr lang="en" sz="2400"/>
              <a:t>:</a:t>
            </a:r>
            <a:r>
              <a:rPr b="1" lang="en"/>
              <a:t>v0.1</a:t>
            </a:r>
            <a:endParaRPr b="1"/>
          </a:p>
          <a:p>
            <a:pPr indent="0" lvl="0" marL="0" rtl="0" algn="l">
              <a:lnSpc>
                <a:spcPct val="115000"/>
              </a:lnSpc>
              <a:spcBef>
                <a:spcPts val="1600"/>
              </a:spcBef>
              <a:spcAft>
                <a:spcPts val="0"/>
              </a:spcAft>
              <a:buSzPts val="1800"/>
              <a:buNone/>
            </a:pPr>
            <a:r>
              <a:t/>
            </a:r>
            <a:endParaRPr b="1"/>
          </a:p>
          <a:p>
            <a:pPr indent="0" lvl="0" marL="0" rtl="0" algn="l">
              <a:lnSpc>
                <a:spcPct val="115000"/>
              </a:lnSpc>
              <a:spcBef>
                <a:spcPts val="1600"/>
              </a:spcBef>
              <a:spcAft>
                <a:spcPts val="0"/>
              </a:spcAft>
              <a:buSzPts val="1800"/>
              <a:buNone/>
            </a:pPr>
            <a:r>
              <a:t/>
            </a:r>
            <a:endParaRPr b="1"/>
          </a:p>
          <a:p>
            <a:pPr indent="0" lvl="0" marL="0" rtl="0" algn="l">
              <a:lnSpc>
                <a:spcPct val="115000"/>
              </a:lnSpc>
              <a:spcBef>
                <a:spcPts val="1600"/>
              </a:spcBef>
              <a:spcAft>
                <a:spcPts val="1600"/>
              </a:spcAft>
              <a:buSzPts val="1800"/>
              <a:buNone/>
            </a:pPr>
            <a:r>
              <a:rPr b="1" lang="en"/>
              <a:t>  {Registry URL}   {Repository Owner}   {Image Name}   {Image Tag}</a:t>
            </a:r>
            <a:endParaRPr b="1"/>
          </a:p>
        </p:txBody>
      </p:sp>
      <p:sp>
        <p:nvSpPr>
          <p:cNvPr id="258" name="Google Shape;258;p30"/>
          <p:cNvSpPr/>
          <p:nvPr/>
        </p:nvSpPr>
        <p:spPr>
          <a:xfrm rot="2700000">
            <a:off x="1438685" y="1534205"/>
            <a:ext cx="331775" cy="160584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30"/>
          <p:cNvSpPr/>
          <p:nvPr/>
        </p:nvSpPr>
        <p:spPr>
          <a:xfrm>
            <a:off x="2973075" y="1708601"/>
            <a:ext cx="331800" cy="11508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60" name="Google Shape;260;p30"/>
          <p:cNvSpPr/>
          <p:nvPr/>
        </p:nvSpPr>
        <p:spPr>
          <a:xfrm rot="1159163">
            <a:off x="4977285" y="1669229"/>
            <a:ext cx="331889" cy="1229541"/>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30"/>
          <p:cNvSpPr/>
          <p:nvPr/>
        </p:nvSpPr>
        <p:spPr>
          <a:xfrm rot="-586542">
            <a:off x="6252781" y="1773179"/>
            <a:ext cx="261497" cy="1021623"/>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YAML</a:t>
            </a:r>
            <a:endParaRPr/>
          </a:p>
        </p:txBody>
      </p:sp>
      <p:sp>
        <p:nvSpPr>
          <p:cNvPr id="267" name="Google Shape;267;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YAML is a human-readable data serialization language.  </a:t>
            </a:r>
            <a:endParaRPr/>
          </a:p>
          <a:p>
            <a:pPr indent="-342900" lvl="0" marL="457200" rtl="0" algn="l">
              <a:lnSpc>
                <a:spcPct val="115000"/>
              </a:lnSpc>
              <a:spcBef>
                <a:spcPts val="0"/>
              </a:spcBef>
              <a:spcAft>
                <a:spcPts val="0"/>
              </a:spcAft>
              <a:buSzPts val="1800"/>
              <a:buChar char="●"/>
            </a:pPr>
            <a:r>
              <a:rPr lang="en"/>
              <a:t>It is commonly used for configuration files, but could be used in many applications where data is being stored (e.g. debugging output) or transmitted (e.g. document headers).  </a:t>
            </a:r>
            <a:endParaRPr/>
          </a:p>
          <a:p>
            <a:pPr indent="-342900" lvl="0" marL="457200" rtl="0" algn="l">
              <a:lnSpc>
                <a:spcPct val="115000"/>
              </a:lnSpc>
              <a:spcBef>
                <a:spcPts val="0"/>
              </a:spcBef>
              <a:spcAft>
                <a:spcPts val="0"/>
              </a:spcAft>
              <a:buSzPts val="1800"/>
              <a:buChar char="●"/>
            </a:pPr>
            <a:r>
              <a:rPr lang="en"/>
              <a:t>YAML targets many of the same communications applications as XML but has a minimal syntax which intentionally breaks compatibility.  </a:t>
            </a:r>
            <a:endParaRPr/>
          </a:p>
          <a:p>
            <a:pPr indent="-342900" lvl="0" marL="457200" rtl="0" algn="l">
              <a:lnSpc>
                <a:spcPct val="115000"/>
              </a:lnSpc>
              <a:spcBef>
                <a:spcPts val="0"/>
              </a:spcBef>
              <a:spcAft>
                <a:spcPts val="0"/>
              </a:spcAft>
              <a:buSzPts val="1800"/>
              <a:buChar char="●"/>
            </a:pPr>
            <a:r>
              <a:rPr lang="en"/>
              <a:t>It uses both Python-style indentation to indicate nesting, and a more compact format that uses [] for lists and {} for maps.  </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YAML</a:t>
            </a:r>
            <a:endParaRPr/>
          </a:p>
        </p:txBody>
      </p:sp>
      <p:sp>
        <p:nvSpPr>
          <p:cNvPr id="273" name="Google Shape;273;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This files can have either the .yml or .yaml extensions.  </a:t>
            </a:r>
            <a:endParaRPr/>
          </a:p>
          <a:p>
            <a:pPr indent="-342900" lvl="0" marL="457200" rtl="0" algn="l">
              <a:lnSpc>
                <a:spcPct val="115000"/>
              </a:lnSpc>
              <a:spcBef>
                <a:spcPts val="0"/>
              </a:spcBef>
              <a:spcAft>
                <a:spcPts val="0"/>
              </a:spcAft>
              <a:buSzPts val="1800"/>
              <a:buChar char="●"/>
            </a:pPr>
            <a:r>
              <a:rPr lang="en"/>
              <a:t>yml files can sometimes be annoying to write because: </a:t>
            </a:r>
            <a:endParaRPr/>
          </a:p>
          <a:p>
            <a:pPr indent="-317500" lvl="1" marL="914400" rtl="0" algn="l">
              <a:lnSpc>
                <a:spcPct val="115000"/>
              </a:lnSpc>
              <a:spcBef>
                <a:spcPts val="0"/>
              </a:spcBef>
              <a:spcAft>
                <a:spcPts val="0"/>
              </a:spcAft>
              <a:buSzPts val="1400"/>
              <a:buChar char="○"/>
            </a:pPr>
            <a:r>
              <a:rPr lang="en"/>
              <a:t>YAML is case sensitive. </a:t>
            </a:r>
            <a:endParaRPr/>
          </a:p>
          <a:p>
            <a:pPr indent="-317500" lvl="1" marL="914400" rtl="0" algn="l">
              <a:lnSpc>
                <a:spcPct val="115000"/>
              </a:lnSpc>
              <a:spcBef>
                <a:spcPts val="0"/>
              </a:spcBef>
              <a:spcAft>
                <a:spcPts val="0"/>
              </a:spcAft>
              <a:buSzPts val="1400"/>
              <a:buChar char="○"/>
            </a:pPr>
            <a:r>
              <a:rPr lang="en"/>
              <a:t>YAML does not allow the use of tabs. </a:t>
            </a:r>
            <a:endParaRPr/>
          </a:p>
          <a:p>
            <a:pPr indent="-317500" lvl="1" marL="914400" rtl="0" algn="l">
              <a:lnSpc>
                <a:spcPct val="115000"/>
              </a:lnSpc>
              <a:spcBef>
                <a:spcPts val="0"/>
              </a:spcBef>
              <a:spcAft>
                <a:spcPts val="0"/>
              </a:spcAft>
              <a:buSzPts val="1400"/>
              <a:buChar char="○"/>
            </a:pPr>
            <a:r>
              <a:rPr lang="en"/>
              <a:t>Spaces are used instead as tabs are not universally supported.  </a:t>
            </a:r>
            <a:endParaRPr/>
          </a:p>
          <a:p>
            <a:pPr indent="-342900" lvl="0" marL="457200" rtl="0" algn="l">
              <a:lnSpc>
                <a:spcPct val="115000"/>
              </a:lnSpc>
              <a:spcBef>
                <a:spcPts val="0"/>
              </a:spcBef>
              <a:spcAft>
                <a:spcPts val="0"/>
              </a:spcAft>
              <a:buSzPts val="1800"/>
              <a:buChar char="●"/>
            </a:pPr>
            <a:r>
              <a:rPr lang="en"/>
              <a:t>If you feel stuck use a YAML validator which can be found freely online, e.g: http://www.yamllint.com/</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Docker Compose (dev)</a:t>
            </a:r>
            <a:endParaRPr/>
          </a:p>
        </p:txBody>
      </p:sp>
      <p:sp>
        <p:nvSpPr>
          <p:cNvPr id="279" name="Google Shape;279;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Compose is a tool for defining and running multi-container Docker applications.  </a:t>
            </a:r>
            <a:endParaRPr/>
          </a:p>
          <a:p>
            <a:pPr indent="-342900" lvl="0" marL="457200" rtl="0" algn="l">
              <a:lnSpc>
                <a:spcPct val="115000"/>
              </a:lnSpc>
              <a:spcBef>
                <a:spcPts val="0"/>
              </a:spcBef>
              <a:spcAft>
                <a:spcPts val="0"/>
              </a:spcAft>
              <a:buSzPts val="1800"/>
              <a:buChar char="●"/>
            </a:pPr>
            <a:r>
              <a:rPr lang="en"/>
              <a:t>With Compose, you use a Compose file to configure your application's services.  </a:t>
            </a:r>
            <a:endParaRPr/>
          </a:p>
          <a:p>
            <a:pPr indent="-342900" lvl="0" marL="457200" rtl="0" algn="l">
              <a:lnSpc>
                <a:spcPct val="115000"/>
              </a:lnSpc>
              <a:spcBef>
                <a:spcPts val="0"/>
              </a:spcBef>
              <a:spcAft>
                <a:spcPts val="0"/>
              </a:spcAft>
              <a:buSzPts val="1800"/>
              <a:buChar char="●"/>
            </a:pPr>
            <a:r>
              <a:rPr lang="en"/>
              <a:t>Then, using a single command, you create and start all the services from your configuration.  </a:t>
            </a:r>
            <a:endParaRPr/>
          </a:p>
          <a:p>
            <a:pPr indent="-342900" lvl="0" marL="457200" rtl="0" algn="l">
              <a:lnSpc>
                <a:spcPct val="115000"/>
              </a:lnSpc>
              <a:spcBef>
                <a:spcPts val="0"/>
              </a:spcBef>
              <a:spcAft>
                <a:spcPts val="0"/>
              </a:spcAft>
              <a:buSzPts val="1800"/>
              <a:buChar char="●"/>
            </a:pPr>
            <a:r>
              <a:rPr lang="en"/>
              <a:t>Compose is great for development, testing, and staging environments, as well as CI workflows.  </a:t>
            </a:r>
            <a:endParaRPr/>
          </a:p>
          <a:p>
            <a:pPr indent="0" lvl="0" marL="457200" rtl="0" algn="l">
              <a:lnSpc>
                <a:spcPct val="115000"/>
              </a:lnSpc>
              <a:spcBef>
                <a:spcPts val="1600"/>
              </a:spcBef>
              <a:spcAft>
                <a:spcPts val="1600"/>
              </a:spcAft>
              <a:buSzPts val="18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Docker Compose</a:t>
            </a:r>
            <a:endParaRPr/>
          </a:p>
        </p:txBody>
      </p:sp>
      <p:sp>
        <p:nvSpPr>
          <p:cNvPr id="285" name="Google Shape;285;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Development purposes only.</a:t>
            </a:r>
            <a:endParaRPr/>
          </a:p>
          <a:p>
            <a:pPr indent="-342900" lvl="0" marL="457200" rtl="0" algn="l">
              <a:lnSpc>
                <a:spcPct val="115000"/>
              </a:lnSpc>
              <a:spcBef>
                <a:spcPts val="0"/>
              </a:spcBef>
              <a:spcAft>
                <a:spcPts val="0"/>
              </a:spcAft>
              <a:buSzPts val="1800"/>
              <a:buChar char="●"/>
            </a:pPr>
            <a:r>
              <a:rPr lang="en"/>
              <a:t>Using Compose is basically a three-step process. </a:t>
            </a:r>
            <a:endParaRPr/>
          </a:p>
          <a:p>
            <a:pPr indent="-342900" lvl="0" marL="457200" rtl="0" algn="l">
              <a:lnSpc>
                <a:spcPct val="115000"/>
              </a:lnSpc>
              <a:spcBef>
                <a:spcPts val="0"/>
              </a:spcBef>
              <a:spcAft>
                <a:spcPts val="0"/>
              </a:spcAft>
              <a:buSzPts val="1800"/>
              <a:buChar char="●"/>
            </a:pPr>
            <a:r>
              <a:rPr lang="en"/>
              <a:t>Define your app's environment with a Dockerfile so it can be reproduced anywhere. </a:t>
            </a:r>
            <a:endParaRPr/>
          </a:p>
          <a:p>
            <a:pPr indent="-342900" lvl="0" marL="457200" rtl="0" algn="l">
              <a:lnSpc>
                <a:spcPct val="115000"/>
              </a:lnSpc>
              <a:spcBef>
                <a:spcPts val="0"/>
              </a:spcBef>
              <a:spcAft>
                <a:spcPts val="0"/>
              </a:spcAft>
              <a:buSzPts val="1800"/>
              <a:buChar char="●"/>
            </a:pPr>
            <a:r>
              <a:rPr lang="en"/>
              <a:t>Define the services that make up your app in docker-compose.yml so they can be run together in an isolated environment. </a:t>
            </a:r>
            <a:endParaRPr/>
          </a:p>
          <a:p>
            <a:pPr indent="-342900" lvl="0" marL="457200" rtl="0" algn="l">
              <a:lnSpc>
                <a:spcPct val="115000"/>
              </a:lnSpc>
              <a:spcBef>
                <a:spcPts val="0"/>
              </a:spcBef>
              <a:spcAft>
                <a:spcPts val="0"/>
              </a:spcAft>
              <a:buSzPts val="1800"/>
              <a:buChar char="●"/>
            </a:pPr>
            <a:r>
              <a:rPr lang="en"/>
              <a:t>Lastly, run docker-compose up and Compose will start and run your entire app.  </a:t>
            </a:r>
            <a:endParaRPr/>
          </a:p>
          <a:p>
            <a:pPr indent="-342900" lvl="0" marL="457200" rtl="0" algn="l">
              <a:lnSpc>
                <a:spcPct val="115000"/>
              </a:lnSpc>
              <a:spcBef>
                <a:spcPts val="0"/>
              </a:spcBef>
              <a:spcAft>
                <a:spcPts val="0"/>
              </a:spcAft>
              <a:buSzPts val="1800"/>
              <a:buChar char="●"/>
            </a:pPr>
            <a:r>
              <a:rPr lang="en"/>
              <a:t>Volumes key can be added to the compose file (yml) to mount the project directory (current directory) on the host to /code inside the container, allowing us to modify the code on the fly, without having to rebuild the image.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Docker Compose </a:t>
            </a:r>
            <a:endParaRPr/>
          </a:p>
          <a:p>
            <a:pPr indent="0" lvl="0" marL="0" rtl="0" algn="l">
              <a:lnSpc>
                <a:spcPct val="100000"/>
              </a:lnSpc>
              <a:spcBef>
                <a:spcPts val="0"/>
              </a:spcBef>
              <a:spcAft>
                <a:spcPts val="0"/>
              </a:spcAft>
              <a:buSzPts val="3600"/>
              <a:buNone/>
            </a:pPr>
            <a:r>
              <a:rPr lang="en"/>
              <a:t>Example</a:t>
            </a:r>
            <a:endParaRPr/>
          </a:p>
        </p:txBody>
      </p:sp>
      <p:pic>
        <p:nvPicPr>
          <p:cNvPr id="291" name="Google Shape;291;p35"/>
          <p:cNvPicPr preferRelativeResize="0"/>
          <p:nvPr/>
        </p:nvPicPr>
        <p:blipFill rotWithShape="1">
          <a:blip r:embed="rId3">
            <a:alphaModFix/>
          </a:blip>
          <a:srcRect b="0" l="0" r="0" t="0"/>
          <a:stretch/>
        </p:blipFill>
        <p:spPr>
          <a:xfrm>
            <a:off x="4843450" y="73800"/>
            <a:ext cx="3330574" cy="49958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Docker Compose Exercise</a:t>
            </a:r>
            <a:endParaRPr/>
          </a:p>
        </p:txBody>
      </p:sp>
      <p:sp>
        <p:nvSpPr>
          <p:cNvPr id="297" name="Google Shape;297;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marR="88900" rtl="0" algn="l">
              <a:lnSpc>
                <a:spcPct val="142857"/>
              </a:lnSpc>
              <a:spcBef>
                <a:spcPts val="0"/>
              </a:spcBef>
              <a:spcAft>
                <a:spcPts val="0"/>
              </a:spcAft>
              <a:buSzPts val="1800"/>
              <a:buAutoNum type="arabicPeriod"/>
            </a:pPr>
            <a:r>
              <a:rPr lang="en"/>
              <a:t>Create a folder called composetest</a:t>
            </a:r>
            <a:endParaRPr/>
          </a:p>
          <a:p>
            <a:pPr indent="-342900" lvl="0" marL="457200" marR="88900" rtl="0" algn="l">
              <a:lnSpc>
                <a:spcPct val="142857"/>
              </a:lnSpc>
              <a:spcBef>
                <a:spcPts val="0"/>
              </a:spcBef>
              <a:spcAft>
                <a:spcPts val="0"/>
              </a:spcAft>
              <a:buSzPts val="1800"/>
              <a:buAutoNum type="arabicPeriod"/>
            </a:pPr>
            <a:r>
              <a:rPr lang="en"/>
              <a:t>Clone this repository: </a:t>
            </a:r>
            <a:r>
              <a:rPr lang="en" u="sng">
                <a:solidFill>
                  <a:schemeClr val="hlink"/>
                </a:solidFill>
                <a:hlinkClick r:id="rId3"/>
              </a:rPr>
              <a:t>https://github.com/eduardusatchev/docker-flask-redis</a:t>
            </a:r>
            <a:endParaRPr/>
          </a:p>
          <a:p>
            <a:pPr indent="-342900" lvl="0" marL="457200" marR="88900" rtl="0" algn="l">
              <a:lnSpc>
                <a:spcPct val="142857"/>
              </a:lnSpc>
              <a:spcBef>
                <a:spcPts val="0"/>
              </a:spcBef>
              <a:spcAft>
                <a:spcPts val="0"/>
              </a:spcAft>
              <a:buSzPts val="1800"/>
              <a:buAutoNum type="arabicPeriod"/>
            </a:pPr>
            <a:r>
              <a:rPr lang="en"/>
              <a:t>Run docker-compose up</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More exercise</a:t>
            </a:r>
            <a:endParaRPr/>
          </a:p>
        </p:txBody>
      </p:sp>
      <p:sp>
        <p:nvSpPr>
          <p:cNvPr id="303" name="Google Shape;303;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Checkout the following repository:</a:t>
            </a:r>
            <a:endParaRPr/>
          </a:p>
          <a:p>
            <a:pPr indent="0" lvl="0" marL="0" rtl="0" algn="l">
              <a:lnSpc>
                <a:spcPct val="115000"/>
              </a:lnSpc>
              <a:spcBef>
                <a:spcPts val="1600"/>
              </a:spcBef>
              <a:spcAft>
                <a:spcPts val="0"/>
              </a:spcAft>
              <a:buSzPts val="1800"/>
              <a:buNone/>
            </a:pPr>
            <a:r>
              <a:rPr lang="en" u="sng">
                <a:solidFill>
                  <a:schemeClr val="hlink"/>
                </a:solidFill>
                <a:hlinkClick r:id="rId3"/>
              </a:rPr>
              <a:t>https://github.com/dockersamples/example-voting-app</a:t>
            </a:r>
            <a:endParaRPr/>
          </a:p>
          <a:p>
            <a:pPr indent="0" lvl="0" marL="0" rtl="0" algn="l">
              <a:lnSpc>
                <a:spcPct val="115000"/>
              </a:lnSpc>
              <a:spcBef>
                <a:spcPts val="1600"/>
              </a:spcBef>
              <a:spcAft>
                <a:spcPts val="1600"/>
              </a:spcAft>
              <a:buSzPts val="1800"/>
              <a:buNone/>
            </a:pPr>
            <a:r>
              <a:t/>
            </a:r>
            <a:endParaRPr/>
          </a:p>
        </p:txBody>
      </p:sp>
      <p:pic>
        <p:nvPicPr>
          <p:cNvPr id="304" name="Google Shape;304;p37"/>
          <p:cNvPicPr preferRelativeResize="0"/>
          <p:nvPr/>
        </p:nvPicPr>
        <p:blipFill rotWithShape="1">
          <a:blip r:embed="rId4">
            <a:alphaModFix/>
          </a:blip>
          <a:srcRect b="0" l="0" r="0" t="0"/>
          <a:stretch/>
        </p:blipFill>
        <p:spPr>
          <a:xfrm>
            <a:off x="1907021" y="2356300"/>
            <a:ext cx="2735324" cy="2403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Hands on</a:t>
            </a:r>
            <a:endParaRPr/>
          </a:p>
        </p:txBody>
      </p:sp>
      <p:sp>
        <p:nvSpPr>
          <p:cNvPr id="310" name="Google Shape;310;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AutoNum type="arabicPeriod"/>
            </a:pPr>
            <a:r>
              <a:rPr lang="en"/>
              <a:t>Register to docker hub</a:t>
            </a:r>
            <a:endParaRPr/>
          </a:p>
          <a:p>
            <a:pPr indent="-342900" lvl="0" marL="457200" rtl="0" algn="l">
              <a:lnSpc>
                <a:spcPct val="115000"/>
              </a:lnSpc>
              <a:spcBef>
                <a:spcPts val="0"/>
              </a:spcBef>
              <a:spcAft>
                <a:spcPts val="0"/>
              </a:spcAft>
              <a:buSzPts val="1800"/>
              <a:buAutoNum type="arabicPeriod"/>
            </a:pPr>
            <a:r>
              <a:rPr lang="en"/>
              <a:t>Create a new public repository</a:t>
            </a:r>
            <a:endParaRPr/>
          </a:p>
          <a:p>
            <a:pPr indent="-342900" lvl="0" marL="457200" rtl="0" algn="l">
              <a:lnSpc>
                <a:spcPct val="115000"/>
              </a:lnSpc>
              <a:spcBef>
                <a:spcPts val="0"/>
              </a:spcBef>
              <a:spcAft>
                <a:spcPts val="0"/>
              </a:spcAft>
              <a:buSzPts val="1800"/>
              <a:buAutoNum type="arabicPeriod"/>
            </a:pPr>
            <a:r>
              <a:rPr lang="en"/>
              <a:t>Create an image </a:t>
            </a:r>
            <a:endParaRPr/>
          </a:p>
          <a:p>
            <a:pPr indent="-342900" lvl="0" marL="457200" rtl="0" algn="l">
              <a:lnSpc>
                <a:spcPct val="115000"/>
              </a:lnSpc>
              <a:spcBef>
                <a:spcPts val="0"/>
              </a:spcBef>
              <a:spcAft>
                <a:spcPts val="0"/>
              </a:spcAft>
              <a:buSzPts val="1800"/>
              <a:buAutoNum type="arabicPeriod"/>
            </a:pPr>
            <a:r>
              <a:rPr lang="en"/>
              <a:t>Tag it / build it with the proper convention and push to docker hub.</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