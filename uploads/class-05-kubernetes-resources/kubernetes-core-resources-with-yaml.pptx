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9144000"/>
  <p:notesSz cx="6858000" cy="9144000"/>
  <p:embeddedFontLs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0" roundtripDataSignature="AMtx7miGGvIoGDogyuwIUVtKJSKCoCZs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858677C-464B-480E-BA77-EACBD6510FE9}">
  <a:tblStyle styleId="{5858677C-464B-480E-BA77-EACBD6510F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customschemas.google.com/relationships/presentationmetadata" Target="meta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RobotoMono-bold.fntdata"/><Relationship Id="rId14" Type="http://schemas.openxmlformats.org/officeDocument/2006/relationships/slide" Target="slides/slide8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1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0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e155371ae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be155371ae_0_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e155371ae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be155371ae_0_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e155371a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g3be155371ae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be155371ae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g3be155371ae_0_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be155371ae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g3be155371ae_0_10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fe1125a2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bfe1125a29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fe1125a2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g3bfe1125a29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fe1125a2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g3bfe1125a29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e155371a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be155371a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be155371ae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be155371ae_0_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e155371ae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be155371ae_0_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be155371a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be155371ae_0_8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e155371ae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be155371ae_0_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be155371a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be155371ae_0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be155371a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be155371a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bfe1125a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bfe1125a2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e155371a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g3be155371ae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be155371a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be155371ae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be155371ae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be155371ae_0_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be155371ae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g3be155371ae_0_3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Kubernetes Core Resources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Architecture, Relationships &amp; YAML Examples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resource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is an object stored in the Kubernetes API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Resources describe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desired state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Managed via: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kubectl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YAML manifests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Kubernetes continuously works to match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actual state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to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desired state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US" sz="2000">
                <a:latin typeface="Arial"/>
                <a:ea typeface="Arial"/>
                <a:cs typeface="Arial"/>
                <a:sym typeface="Arial"/>
              </a:rPr>
              <a:t>Everything in Kubernetes is a resource: pods, services, deployments, secrets, configs, etc.</a:t>
            </a:r>
            <a:endParaRPr i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Resource Categories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e155371ae_0_9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Resource Categories</a:t>
            </a:r>
            <a:endParaRPr/>
          </a:p>
        </p:txBody>
      </p:sp>
      <p:sp>
        <p:nvSpPr>
          <p:cNvPr id="97" name="Google Shape;97;g3be155371ae_0_9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🧠 Workloads – run your applications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🌐 Networking – expose and connect apps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💾 Storage – persistent data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⚙️ Configuration – app configuration &amp; secrets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🧑‍💼 Security &amp; Access – permissions &amp; isolation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be155371ae_0_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Pod</a:t>
            </a:r>
            <a:endParaRPr/>
          </a:p>
        </p:txBody>
      </p:sp>
      <p:sp>
        <p:nvSpPr>
          <p:cNvPr id="103" name="Google Shape;103;g3be155371ae_0_6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Smallest deployable unit in Kubernetes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One or more containers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Shared: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84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Network (IP, ports)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84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Storage (volumes)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Ephemeral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– not meant to live forever</a:t>
            </a:r>
            <a:endParaRPr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</a:t>
            </a:r>
            <a:endParaRPr/>
          </a:p>
        </p:txBody>
      </p:sp>
      <p:sp>
        <p:nvSpPr>
          <p:cNvPr id="109" name="Google Shape;10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342900" rtl="0" algn="l">
              <a:spcBef>
                <a:spcPts val="6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Manages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replicas of Pods</a:t>
            </a:r>
            <a:br>
              <a:rPr b="1" lang="en-US" sz="2000">
                <a:latin typeface="Arial"/>
                <a:ea typeface="Arial"/>
                <a:cs typeface="Arial"/>
                <a:sym typeface="Arial"/>
              </a:rPr>
            </a:b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Supports: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84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Scaling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98450" lvl="1" marL="7429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Rolling updates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Rollbacks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Ensures desired number of Pods are always running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e155371ae_0_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ReplicaSet</a:t>
            </a:r>
            <a:endParaRPr/>
          </a:p>
        </p:txBody>
      </p:sp>
      <p:sp>
        <p:nvSpPr>
          <p:cNvPr id="115" name="Google Shape;115;g3be155371ae_0_6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Ensures a fixed number of Pods are running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Automatically created by Deployments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Rarely managed directly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e155371ae_0_9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Deployment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Defines the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desired state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for Pods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Handles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scaling, rolling updates, and rollbacks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Does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not directly create Pods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ReplicaSet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Ensures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a specified number of Pod replicas</a:t>
            </a:r>
            <a:r>
              <a:rPr lang="en-US" sz="1600">
                <a:latin typeface="Arial"/>
                <a:ea typeface="Arial"/>
                <a:cs typeface="Arial"/>
                <a:sym typeface="Arial"/>
              </a:rPr>
              <a:t> are running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Managed by the Deployment (you usually don’t create it manually)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Watches Pods matching its label selector and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creates/deletes Pods as needed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Pod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Smallest deployable unit in Kubernetes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Runs </a:t>
            </a:r>
            <a:r>
              <a:rPr b="1" lang="en-US" sz="1600">
                <a:latin typeface="Arial"/>
                <a:ea typeface="Arial"/>
                <a:cs typeface="Arial"/>
                <a:sym typeface="Arial"/>
              </a:rPr>
              <a:t>one or more containers</a:t>
            </a:r>
            <a:endParaRPr b="1" sz="1600"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-US" sz="1600">
                <a:latin typeface="Arial"/>
                <a:ea typeface="Arial"/>
                <a:cs typeface="Arial"/>
                <a:sym typeface="Arial"/>
              </a:rPr>
              <a:t>Ephemeral; replaced automatically if deleted, thanks to the ReplicaSet</a:t>
            </a:r>
            <a:endParaRPr sz="1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g3be155371ae_0_9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Deployment → ReplicaSet → Pod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e155371ae_0_10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You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never update Pods directly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if managed by a Deployment.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Deployment creates a new ReplicaSet on updates, and old ReplicaSets are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scaled down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automatically.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Labels are the glue: ReplicaSet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selects Pods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via labels defined in the Deployment template.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be155371ae_0_10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Deployment → ReplicaSet → Pod - Cont.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fe1125a29_0_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DaemonSet</a:t>
            </a:r>
            <a:endParaRPr/>
          </a:p>
        </p:txBody>
      </p:sp>
      <p:sp>
        <p:nvSpPr>
          <p:cNvPr id="133" name="Google Shape;133;g3bfe1125a29_0_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Ensures one Pod runs on every node (or selected nodes)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Automatically adds a Pod when a new node joins the cluster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Commonly used for node-level services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Not used for scaling applications by traffic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Managed by Kubernetes — you don’t create Pods manually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fe1125a29_0_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DaemonSet - Cont.</a:t>
            </a:r>
            <a:endParaRPr/>
          </a:p>
        </p:txBody>
      </p:sp>
      <p:sp>
        <p:nvSpPr>
          <p:cNvPr id="139" name="Google Shape;139;g3bfe1125a29_0_1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latin typeface="Arial"/>
                <a:ea typeface="Arial"/>
                <a:cs typeface="Arial"/>
                <a:sym typeface="Arial"/>
              </a:rPr>
              <a:t>Use Cases: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Log collectors (Fluentd, Filebeat)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Monitoring agents (Node Exporter)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Networking components (CNI plugins)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Security agents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fe1125a29_0_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Deployment vs. </a:t>
            </a:r>
            <a:r>
              <a:rPr lang="en-US"/>
              <a:t>DaemonSet</a:t>
            </a:r>
            <a:endParaRPr/>
          </a:p>
        </p:txBody>
      </p:sp>
      <p:graphicFrame>
        <p:nvGraphicFramePr>
          <p:cNvPr id="145" name="Google Shape;145;g3bfe1125a29_0_17"/>
          <p:cNvGraphicFramePr/>
          <p:nvPr/>
        </p:nvGraphicFramePr>
        <p:xfrm>
          <a:off x="952500" y="1333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{5858677C-464B-480E-BA77-EACBD6510FE9}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Feature / Aspect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Deployment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DaemonSet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Purpose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Run application workloads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Run node-level workloads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Pod placement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Any node in the cluster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One Pod per node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Replica control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Yes – user defines replica count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 – tied to number of nodes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Scaling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Scale by changing replicas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Scales automatically with nodes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Behavior on new node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 change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New Pod is created automatically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Update strategy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Rolling updates &amp; rollbacks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Rolling updates per node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Traffic-driven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Yes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Typical use cases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APIs, web apps, microservices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Logging, monitoring, networking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Managed Pods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ReplicaSet → Pods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Directly manages Pods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Common mistake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Used for node agents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Used for app scaling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be155371ae_0_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CronJob and Job</a:t>
            </a:r>
            <a:endParaRPr/>
          </a:p>
        </p:txBody>
      </p:sp>
      <p:sp>
        <p:nvSpPr>
          <p:cNvPr id="151" name="Google Shape;151;g3be155371ae_0_8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Job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Runs a task once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Example: DB migration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CronJob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Runs on a schedule</a:t>
            </a:r>
            <a:endParaRPr sz="2000"/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Example: nightly backup</a:t>
            </a:r>
            <a:endParaRPr sz="20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Content: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Exposes Pods via a stable IP &amp; DNS name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Load-balances traffic between Pods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7" name="Google Shape;157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be155371ae_0_7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ClusterIP (default)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Exposes the Service on an internal cluster IP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Only accessible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within the cluster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Ideal for Pod-to-Pod communication or internal APIs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g3be155371ae_0_7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r>
              <a:rPr lang="en-US"/>
              <a:t> - Cont.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be155371ae_0_8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NodePort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Exposes the Service on a static port on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all cluster nodes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Allows external traffic to reach the Service via </a:t>
            </a:r>
            <a:r>
              <a:rPr lang="en-US" sz="20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NodeIP:NodePort</a:t>
            </a:r>
            <a:endParaRPr sz="2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Simple way to test external access without a LoadBalancer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be155371ae_0_8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r>
              <a:rPr lang="en-US"/>
              <a:t> - Cont.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be155371ae_0_8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LoadBalancer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Creates an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external cloud load balancer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(if supported by cloud provider)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Routes traffic directly to the Service from outside the cluster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Combines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ClusterIP + NodePort + external LB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automatically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be155371ae_0_8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</a:t>
            </a:r>
            <a:r>
              <a:rPr lang="en-US"/>
              <a:t> - Cont.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457200" rtl="0" algn="l">
              <a:spcBef>
                <a:spcPts val="6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Manages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external HTTP/HTTPS access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spcBef>
                <a:spcPts val="64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Routes traffic by: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Host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/>
              <a:buChar char="–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Path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Requires an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Ingress Controller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(NGINX, Traefik)</a:t>
            </a:r>
            <a:endParaRPr sz="2000"/>
          </a:p>
        </p:txBody>
      </p:sp>
      <p:sp>
        <p:nvSpPr>
          <p:cNvPr id="181" name="Google Shape;181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Ingress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What is a ConfigMap?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Stores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non-sensitive configuratio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Key-value or file-based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Why ConfigMaps exist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Avoid hardcoding config in images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Same image → different environments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How it’s used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Environment variables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Mounted config files</a:t>
            </a:r>
            <a:endParaRPr sz="2000"/>
          </a:p>
        </p:txBody>
      </p:sp>
      <p:sp>
        <p:nvSpPr>
          <p:cNvPr id="187" name="Google Shape;18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ConfigMap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be155371ae_0_4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Example use cases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App settings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Feature flags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URLs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Timeouts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Common mistake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❌ Storing passwords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 ✅ Use Secrets for sensitive data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g3be155371ae_0_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ConfigMap - Cont.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What is a Secret?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Stores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sensitive information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Base64-encoded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Access-controlled via RBAC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Why Secrets exist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Separation of sensitive data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Safer than plain text YAML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How Secrets are consumed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Environment variables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Mounted volumes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99" name="Google Shape;19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be155371ae_0_5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Important security note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⚠️ Base64 ≠ encryption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 Use: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RBAC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External secret managers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Encryption at rest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g3be155371ae_0_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Secret - </a:t>
            </a:r>
            <a:r>
              <a:rPr lang="en-US"/>
              <a:t>Cont.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be155371ae_0_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Provides logical separation of resources by default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Isolates Pods, Services, ConfigMaps, Secrets, etc.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Enables separate environments (dev, staging, prod - NOT secure!)</a:t>
            </a:r>
            <a:endParaRPr sz="2000"/>
          </a:p>
          <a:p>
            <a:pPr indent="0" lvl="0" marL="3429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Works with RBAC to enforce access control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-355600" lvl="0" marL="342900" rtl="0" algn="l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Supports resource quotas and limits per namespace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211" name="Google Shape;211;g3be155371ae_0_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Namespace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What is a PV?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Cluster-level storage resource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Abstracts physical storage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Why PVs exist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Containers are ephemeral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Data must survive Pod restarts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t/>
            </a:r>
            <a:endParaRPr sz="2000"/>
          </a:p>
        </p:txBody>
      </p:sp>
      <p:sp>
        <p:nvSpPr>
          <p:cNvPr id="217" name="Google Shape;217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PersistentVolume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fe1125a29_0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Who manages it?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Usually cluster admins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Cloud providers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Examples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AWS EBS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GCP PD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NFS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Local disks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g3bfe1125a29_0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PersistentVolume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What is RBAC (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Role-Based Access Control)?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RBAC controls who can do what in Kubernetes.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It answers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three questions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Who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is making the request?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What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are they allowed to do?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On which resources?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RBAC applies to: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Users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Groups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ServiceAccounts (Pods)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RBAC – Namespace Isolation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be155371ae_0_1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The problem RBAC solves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Without RBAC: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Everyone is effectively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admin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Accidental cluster-wide damage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Security &amp; compliance risks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With RBAC: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Least privilege principle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Safer multi-team clusters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Clear permission boundaries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💡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Kubernetes is secure by default — but only if RBAC is used correctly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g3be155371ae_0_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Why RBAC Exists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be155371ae_0_23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RBAC is made of 4 core resources: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Role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ClusterRole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RoleBinding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ClusterRoleBinding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Think of it like this: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Roles define permissions</a:t>
            </a:r>
            <a:br>
              <a:rPr lang="en-US" sz="2000">
                <a:latin typeface="Arial"/>
                <a:ea typeface="Arial"/>
                <a:cs typeface="Arial"/>
                <a:sym typeface="Arial"/>
              </a:rPr>
            </a:br>
            <a:r>
              <a:rPr lang="en-US" sz="2000">
                <a:latin typeface="Arial"/>
                <a:ea typeface="Arial"/>
                <a:cs typeface="Arial"/>
                <a:sym typeface="Arial"/>
              </a:rPr>
              <a:t>Bindings assign those permissions</a:t>
            </a:r>
            <a:endParaRPr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g3be155371ae_0_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RBAC Building Block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be155371ae_0_29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Role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Namespace-scoped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Permissions apply </a:t>
            </a: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only inside one namespace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Read Pods in </a:t>
            </a:r>
            <a:r>
              <a:rPr lang="en-US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dev</a:t>
            </a:r>
            <a:endParaRPr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Create ConfigMaps in </a:t>
            </a:r>
            <a:r>
              <a:rPr lang="en-US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staging</a:t>
            </a:r>
            <a:endParaRPr sz="14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00">
                <a:latin typeface="Arial"/>
                <a:ea typeface="Arial"/>
                <a:cs typeface="Arial"/>
                <a:sym typeface="Arial"/>
              </a:rPr>
              <a:t>ClusterRole</a:t>
            </a:r>
            <a:endParaRPr b="1"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Cluster-scoped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Can: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Apply to all namespaces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Apply to cluster-level resources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Example: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Read Nodes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>
                <a:latin typeface="Arial"/>
                <a:ea typeface="Arial"/>
                <a:cs typeface="Arial"/>
                <a:sym typeface="Arial"/>
              </a:rPr>
              <a:t>View all namespaces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g3be155371ae_0_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Role vs. ClusterRole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be155371ae_0_3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 Role defines </a:t>
            </a: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rules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: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Resources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pods, services, deployments, secrets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b="1" lang="en-US" sz="2000">
                <a:latin typeface="Arial"/>
                <a:ea typeface="Arial"/>
                <a:cs typeface="Arial"/>
                <a:sym typeface="Arial"/>
              </a:rPr>
              <a:t>Verbs</a:t>
            </a:r>
            <a:endParaRPr b="1" sz="2000">
              <a:latin typeface="Arial"/>
              <a:ea typeface="Arial"/>
              <a:cs typeface="Arial"/>
              <a:sym typeface="Arial"/>
            </a:endParaRPr>
          </a:p>
          <a:p>
            <a:pPr indent="-3556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get, list, watch, create, update, delete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g3be155371ae_0_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Role Permissions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