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143500" cx="9144000"/>
  <p:notesSz cx="6858000" cy="9144000"/>
  <p:embeddedFontLst>
    <p:embeddedFont>
      <p:font typeface="Roboto"/>
      <p:regular r:id="rId57"/>
      <p:bold r:id="rId58"/>
      <p:italic r:id="rId59"/>
      <p:boldItalic r:id="rId60"/>
    </p:embeddedFont>
    <p:embeddedFont>
      <p:font typeface="PT Sans Narrow"/>
      <p:regular r:id="rId61"/>
      <p:bold r:id="rId62"/>
    </p:embeddedFont>
    <p:embeddedFont>
      <p:font typeface="Open Sans"/>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67" roundtripDataSignature="AMtx7mjXmrEBzMsZ5Vxs7IXZEZbAcAQI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TSansNarrow-bold.fntdata"/><Relationship Id="rId61" Type="http://schemas.openxmlformats.org/officeDocument/2006/relationships/font" Target="fonts/PTSansNarrow-regular.fntdata"/><Relationship Id="rId20" Type="http://schemas.openxmlformats.org/officeDocument/2006/relationships/slide" Target="slides/slide15.xml"/><Relationship Id="rId64" Type="http://schemas.openxmlformats.org/officeDocument/2006/relationships/font" Target="fonts/OpenSans-bold.fntdata"/><Relationship Id="rId63" Type="http://schemas.openxmlformats.org/officeDocument/2006/relationships/font" Target="fonts/OpenSans-regular.fntdata"/><Relationship Id="rId22" Type="http://schemas.openxmlformats.org/officeDocument/2006/relationships/slide" Target="slides/slide17.xml"/><Relationship Id="rId66" Type="http://schemas.openxmlformats.org/officeDocument/2006/relationships/font" Target="fonts/OpenSans-boldItalic.fntdata"/><Relationship Id="rId21" Type="http://schemas.openxmlformats.org/officeDocument/2006/relationships/slide" Target="slides/slide16.xml"/><Relationship Id="rId65" Type="http://schemas.openxmlformats.org/officeDocument/2006/relationships/font" Target="fonts/OpenSans-italic.fntdata"/><Relationship Id="rId24" Type="http://schemas.openxmlformats.org/officeDocument/2006/relationships/slide" Target="slides/slide19.xml"/><Relationship Id="rId23" Type="http://schemas.openxmlformats.org/officeDocument/2006/relationships/slide" Target="slides/slide18.xml"/><Relationship Id="rId67" Type="http://customschemas.google.com/relationships/presentationmetadata" Target="metadata"/><Relationship Id="rId60" Type="http://schemas.openxmlformats.org/officeDocument/2006/relationships/font" Target="fonts/Roboto-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regular.fnt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oboto-italic.fntdata"/><Relationship Id="rId14" Type="http://schemas.openxmlformats.org/officeDocument/2006/relationships/slide" Target="slides/slide9.xml"/><Relationship Id="rId58" Type="http://schemas.openxmlformats.org/officeDocument/2006/relationships/font" Target="fonts/Robot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0ea17dcf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2d0ea17dcf7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83406ea9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283406ea95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83406ea95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83406ea950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83406ea95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83406ea950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83406ea95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283406ea950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d0ea17dc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2d0ea17dcf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0ea17dcf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2d0ea17dcf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d0ea17dcf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d0ea17dcf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d0ea17dcf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2d0ea17dcf7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d0ea17dcf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2d0ea17dcf7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d0ea17dcf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2d0ea17dcf7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0ea17dcf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2d0ea17dcf7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d0ea17dcf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2d0ea17dcf7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d0ea17dcf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2d0ea17dcf7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d0ea17dcf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2d0ea17dcf7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23340ff9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323340ff9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d0ea17dcf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2d0ea17dcf7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d0ea17dcf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d0ea17dcf7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d0ea17dcf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2d0ea17dcf7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d0ea17dcf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2d0ea17dcf7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24ea96cab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24ea96cab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24ea96cab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24ea96cab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24ea96cab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24ea96cab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30"/>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30"/>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30"/>
          <p:cNvGrpSpPr/>
          <p:nvPr/>
        </p:nvGrpSpPr>
        <p:grpSpPr>
          <a:xfrm>
            <a:off x="1004144" y="1022025"/>
            <a:ext cx="7136668" cy="152400"/>
            <a:chOff x="1346429" y="1011300"/>
            <a:chExt cx="6452100" cy="152400"/>
          </a:xfrm>
        </p:grpSpPr>
        <p:cxnSp>
          <p:nvCxnSpPr>
            <p:cNvPr id="13" name="Google Shape;13;p30"/>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30"/>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30"/>
          <p:cNvGrpSpPr/>
          <p:nvPr/>
        </p:nvGrpSpPr>
        <p:grpSpPr>
          <a:xfrm>
            <a:off x="1004151" y="3969100"/>
            <a:ext cx="7136668" cy="152400"/>
            <a:chOff x="1346435" y="3969088"/>
            <a:chExt cx="6452100" cy="152400"/>
          </a:xfrm>
        </p:grpSpPr>
        <p:cxnSp>
          <p:nvCxnSpPr>
            <p:cNvPr id="16" name="Google Shape;16;p30"/>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30"/>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30"/>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30"/>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1"/>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1"/>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4" name="Google Shape;2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32"/>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8" name="Google Shape;28;p3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9" name="Google Shape;29;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33"/>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33"/>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3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3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3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1" name="Google Shape;41;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36"/>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37"/>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37"/>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37"/>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37"/>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3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51" name="Google Shape;5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38"/>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39"/>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39"/>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39"/>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9" name="Google Shape;5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2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160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160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160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160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160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160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160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1600"/>
              </a:spcBef>
              <a:spcAft>
                <a:spcPts val="160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github.com/EduardUsatchev/DevOps/blob/main/k8s/deamonSet/deamonset-demo.sh"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github.com/avielb/k8s-experts.gi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400"/>
              <a:buNone/>
            </a:pPr>
            <a:r>
              <a:rPr lang="en"/>
              <a:t>DevOps Experts</a:t>
            </a:r>
            <a:endParaRPr/>
          </a:p>
        </p:txBody>
      </p:sp>
      <p:sp>
        <p:nvSpPr>
          <p:cNvPr id="67" name="Google Shape;67;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a:t>Class 3</a:t>
            </a:r>
            <a:endParaRPr/>
          </a:p>
          <a:p>
            <a:pPr indent="0" lvl="0" marL="0" rtl="0" algn="ctr">
              <a:lnSpc>
                <a:spcPct val="100000"/>
              </a:lnSpc>
              <a:spcBef>
                <a:spcPts val="0"/>
              </a:spcBef>
              <a:spcAft>
                <a:spcPts val="0"/>
              </a:spcAft>
              <a:buSzPts val="2400"/>
              <a:buNone/>
            </a:pPr>
            <a:r>
              <a:rPr lang="en" sz="1400"/>
              <a:t>Eduard Usatchev</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Container Orchestration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What is Container Orchestration</a:t>
            </a:r>
            <a:endParaRPr/>
          </a:p>
        </p:txBody>
      </p:sp>
      <p:sp>
        <p:nvSpPr>
          <p:cNvPr id="78" name="Google Shape;78;p3"/>
          <p:cNvSpPr txBox="1"/>
          <p:nvPr>
            <p:ph idx="1" type="body"/>
          </p:nvPr>
        </p:nvSpPr>
        <p:spPr>
          <a:xfrm>
            <a:off x="255175" y="11524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Container orchestration is all about managing the life cycles of containers, especially in large, dynamic environments. Software teams use container orchestration to control and automate many tasks:</a:t>
            </a:r>
            <a:endParaRPr/>
          </a:p>
          <a:p>
            <a:pPr indent="-342900" lvl="0" marL="457200" rtl="0" algn="l">
              <a:lnSpc>
                <a:spcPct val="115000"/>
              </a:lnSpc>
              <a:spcBef>
                <a:spcPts val="1600"/>
              </a:spcBef>
              <a:spcAft>
                <a:spcPts val="0"/>
              </a:spcAft>
              <a:buSzPts val="1800"/>
              <a:buChar char="●"/>
            </a:pPr>
            <a:r>
              <a:rPr lang="en"/>
              <a:t>Provisioning and deployment of containers </a:t>
            </a:r>
            <a:endParaRPr/>
          </a:p>
          <a:p>
            <a:pPr indent="-342900" lvl="0" marL="457200" rtl="0" algn="l">
              <a:lnSpc>
                <a:spcPct val="115000"/>
              </a:lnSpc>
              <a:spcBef>
                <a:spcPts val="0"/>
              </a:spcBef>
              <a:spcAft>
                <a:spcPts val="0"/>
              </a:spcAft>
              <a:buSzPts val="1800"/>
              <a:buChar char="●"/>
            </a:pPr>
            <a:r>
              <a:rPr lang="en"/>
              <a:t>Redundancy and availability of containers </a:t>
            </a:r>
            <a:endParaRPr/>
          </a:p>
          <a:p>
            <a:pPr indent="-342900" lvl="0" marL="457200" rtl="0" algn="l">
              <a:lnSpc>
                <a:spcPct val="115000"/>
              </a:lnSpc>
              <a:spcBef>
                <a:spcPts val="0"/>
              </a:spcBef>
              <a:spcAft>
                <a:spcPts val="0"/>
              </a:spcAft>
              <a:buSzPts val="1800"/>
              <a:buChar char="●"/>
            </a:pPr>
            <a:r>
              <a:rPr lang="en"/>
              <a:t>Scaling up or removing containers to spread application load evenly across host infrastructure</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What is Container Orchestration</a:t>
            </a:r>
            <a:endParaRPr/>
          </a:p>
        </p:txBody>
      </p:sp>
      <p:sp>
        <p:nvSpPr>
          <p:cNvPr id="84" name="Google Shape;84;p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Movement of containers from one host to another if there is a shortage of resources in a host, or if a host dies </a:t>
            </a:r>
            <a:endParaRPr/>
          </a:p>
          <a:p>
            <a:pPr indent="-342900" lvl="0" marL="457200" rtl="0" algn="l">
              <a:lnSpc>
                <a:spcPct val="115000"/>
              </a:lnSpc>
              <a:spcBef>
                <a:spcPts val="0"/>
              </a:spcBef>
              <a:spcAft>
                <a:spcPts val="0"/>
              </a:spcAft>
              <a:buSzPts val="1800"/>
              <a:buChar char="●"/>
            </a:pPr>
            <a:r>
              <a:rPr lang="en"/>
              <a:t>Allocation of resources between containers </a:t>
            </a:r>
            <a:endParaRPr/>
          </a:p>
          <a:p>
            <a:pPr indent="-342900" lvl="0" marL="457200" rtl="0" algn="l">
              <a:lnSpc>
                <a:spcPct val="115000"/>
              </a:lnSpc>
              <a:spcBef>
                <a:spcPts val="0"/>
              </a:spcBef>
              <a:spcAft>
                <a:spcPts val="0"/>
              </a:spcAft>
              <a:buSzPts val="1800"/>
              <a:buChar char="●"/>
            </a:pPr>
            <a:r>
              <a:rPr lang="en"/>
              <a:t>External exposure of services running in a container with the outside world </a:t>
            </a:r>
            <a:endParaRPr/>
          </a:p>
          <a:p>
            <a:pPr indent="-342900" lvl="0" marL="457200" rtl="0" algn="l">
              <a:lnSpc>
                <a:spcPct val="115000"/>
              </a:lnSpc>
              <a:spcBef>
                <a:spcPts val="0"/>
              </a:spcBef>
              <a:spcAft>
                <a:spcPts val="0"/>
              </a:spcAft>
              <a:buSzPts val="1800"/>
              <a:buChar char="●"/>
            </a:pPr>
            <a:r>
              <a:rPr lang="en"/>
              <a:t>Load balancing of service discovery between containers </a:t>
            </a:r>
            <a:endParaRPr/>
          </a:p>
          <a:p>
            <a:pPr indent="-342900" lvl="0" marL="457200" rtl="0" algn="l">
              <a:lnSpc>
                <a:spcPct val="115000"/>
              </a:lnSpc>
              <a:spcBef>
                <a:spcPts val="0"/>
              </a:spcBef>
              <a:spcAft>
                <a:spcPts val="0"/>
              </a:spcAft>
              <a:buSzPts val="1800"/>
              <a:buChar char="●"/>
            </a:pPr>
            <a:r>
              <a:rPr lang="en"/>
              <a:t>Health monitoring of containers and hosts </a:t>
            </a:r>
            <a:endParaRPr/>
          </a:p>
          <a:p>
            <a:pPr indent="-342900" lvl="0" marL="457200" rtl="0" algn="l">
              <a:lnSpc>
                <a:spcPct val="115000"/>
              </a:lnSpc>
              <a:spcBef>
                <a:spcPts val="0"/>
              </a:spcBef>
              <a:spcAft>
                <a:spcPts val="0"/>
              </a:spcAft>
              <a:buSzPts val="1800"/>
              <a:buChar char="●"/>
            </a:pPr>
            <a:r>
              <a:rPr lang="en"/>
              <a:t>Configuration of an application in relation to the containers running 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Container Orchestration Tools</a:t>
            </a:r>
            <a:endParaRPr/>
          </a:p>
        </p:txBody>
      </p:sp>
      <p:sp>
        <p:nvSpPr>
          <p:cNvPr id="90" name="Google Shape;90;p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Docker Swarm - Docker Swarm provides native clustering functionality for Docker containers, which lets you turn a group of Docker engines into a single, virtual Docker engine.</a:t>
            </a:r>
            <a:endParaRPr/>
          </a:p>
          <a:p>
            <a:pPr indent="-342900" lvl="0" marL="457200" rtl="0" algn="l">
              <a:lnSpc>
                <a:spcPct val="115000"/>
              </a:lnSpc>
              <a:spcBef>
                <a:spcPts val="0"/>
              </a:spcBef>
              <a:spcAft>
                <a:spcPts val="0"/>
              </a:spcAft>
              <a:buSzPts val="1800"/>
              <a:buChar char="●"/>
            </a:pPr>
            <a:r>
              <a:rPr lang="en"/>
              <a:t>Mesosphere Marathon - Marathon is a container orchestration framework for Apache Mesos that is designed to launch long-running applications. It offers key features for running applications in a clustered environment.</a:t>
            </a:r>
            <a:endParaRPr/>
          </a:p>
          <a:p>
            <a:pPr indent="-342900" lvl="0" marL="457200" rtl="0" algn="l">
              <a:lnSpc>
                <a:spcPct val="115000"/>
              </a:lnSpc>
              <a:spcBef>
                <a:spcPts val="0"/>
              </a:spcBef>
              <a:spcAft>
                <a:spcPts val="0"/>
              </a:spcAft>
              <a:buSzPts val="1800"/>
              <a:buChar char="●"/>
            </a:pPr>
            <a:r>
              <a:rPr b="1" lang="en"/>
              <a:t>Kubernetes - Kubernetes is an orchestration system for Docker containers. It handles scheduling and manages workloads based on user-defined parameters.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Container Orchestration</a:t>
            </a:r>
            <a:endParaRPr/>
          </a:p>
        </p:txBody>
      </p:sp>
      <p:sp>
        <p:nvSpPr>
          <p:cNvPr id="96" name="Google Shape;96;p6"/>
          <p:cNvSpPr txBox="1"/>
          <p:nvPr>
            <p:ph idx="1" type="body"/>
          </p:nvPr>
        </p:nvSpPr>
        <p:spPr>
          <a:xfrm>
            <a:off x="309803" y="1105046"/>
            <a:ext cx="7688700" cy="2261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Container orchestration is all about managing the lifecycles of containers, especially in large, dynamic environments. Software teams use container orchestration to control and automate many tasks:</a:t>
            </a:r>
            <a:endParaRPr/>
          </a:p>
          <a:p>
            <a:pPr indent="-317500" lvl="1" marL="914400" rtl="0" algn="l">
              <a:lnSpc>
                <a:spcPct val="115000"/>
              </a:lnSpc>
              <a:spcBef>
                <a:spcPts val="0"/>
              </a:spcBef>
              <a:spcAft>
                <a:spcPts val="0"/>
              </a:spcAft>
              <a:buSzPts val="1400"/>
              <a:buChar char="○"/>
            </a:pPr>
            <a:r>
              <a:rPr lang="en"/>
              <a:t>Provisioning and deployment of containers</a:t>
            </a:r>
            <a:endParaRPr/>
          </a:p>
          <a:p>
            <a:pPr indent="-317500" lvl="1" marL="914400" rtl="0" algn="l">
              <a:lnSpc>
                <a:spcPct val="115000"/>
              </a:lnSpc>
              <a:spcBef>
                <a:spcPts val="0"/>
              </a:spcBef>
              <a:spcAft>
                <a:spcPts val="0"/>
              </a:spcAft>
              <a:buSzPts val="1400"/>
              <a:buChar char="○"/>
            </a:pPr>
            <a:r>
              <a:rPr lang="en"/>
              <a:t>Redundancy and availability of containers</a:t>
            </a:r>
            <a:endParaRPr/>
          </a:p>
          <a:p>
            <a:pPr indent="-317500" lvl="1" marL="914400" rtl="0" algn="l">
              <a:lnSpc>
                <a:spcPct val="115000"/>
              </a:lnSpc>
              <a:spcBef>
                <a:spcPts val="0"/>
              </a:spcBef>
              <a:spcAft>
                <a:spcPts val="0"/>
              </a:spcAft>
              <a:buSzPts val="1400"/>
              <a:buChar char="○"/>
            </a:pPr>
            <a:r>
              <a:rPr lang="en"/>
              <a:t>Scaling up or removing containers to spread application load evenly across host infrastructure</a:t>
            </a:r>
            <a:endParaRPr/>
          </a:p>
          <a:p>
            <a:pPr indent="-317500" lvl="1" marL="914400" rtl="0" algn="l">
              <a:lnSpc>
                <a:spcPct val="115000"/>
              </a:lnSpc>
              <a:spcBef>
                <a:spcPts val="0"/>
              </a:spcBef>
              <a:spcAft>
                <a:spcPts val="0"/>
              </a:spcAft>
              <a:buSzPts val="1400"/>
              <a:buChar char="○"/>
            </a:pPr>
            <a:r>
              <a:rPr lang="en"/>
              <a:t>Movement of containers from one host to another if there is a shortage of resources in a host, or if a host dies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t>Container Orchestration</a:t>
            </a:r>
            <a:endParaRPr/>
          </a:p>
        </p:txBody>
      </p:sp>
      <p:sp>
        <p:nvSpPr>
          <p:cNvPr id="102" name="Google Shape;102;p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Allocation of resources between containers</a:t>
            </a:r>
            <a:endParaRPr/>
          </a:p>
          <a:p>
            <a:pPr indent="-342900" lvl="0" marL="457200" rtl="0" algn="l">
              <a:lnSpc>
                <a:spcPct val="115000"/>
              </a:lnSpc>
              <a:spcBef>
                <a:spcPts val="0"/>
              </a:spcBef>
              <a:spcAft>
                <a:spcPts val="0"/>
              </a:spcAft>
              <a:buSzPts val="1800"/>
              <a:buChar char="●"/>
            </a:pPr>
            <a:r>
              <a:rPr lang="en"/>
              <a:t>External exposure of services running in a container with the outside world</a:t>
            </a:r>
            <a:endParaRPr/>
          </a:p>
          <a:p>
            <a:pPr indent="-342900" lvl="0" marL="457200" rtl="0" algn="l">
              <a:lnSpc>
                <a:spcPct val="115000"/>
              </a:lnSpc>
              <a:spcBef>
                <a:spcPts val="0"/>
              </a:spcBef>
              <a:spcAft>
                <a:spcPts val="0"/>
              </a:spcAft>
              <a:buSzPts val="1800"/>
              <a:buChar char="●"/>
            </a:pPr>
            <a:r>
              <a:rPr lang="en"/>
              <a:t>Load balancing of service discovery between containers</a:t>
            </a:r>
            <a:endParaRPr/>
          </a:p>
          <a:p>
            <a:pPr indent="-342900" lvl="0" marL="457200" rtl="0" algn="l">
              <a:lnSpc>
                <a:spcPct val="115000"/>
              </a:lnSpc>
              <a:spcBef>
                <a:spcPts val="0"/>
              </a:spcBef>
              <a:spcAft>
                <a:spcPts val="0"/>
              </a:spcAft>
              <a:buSzPts val="1800"/>
              <a:buChar char="●"/>
            </a:pPr>
            <a:r>
              <a:rPr lang="en"/>
              <a:t>Health monitoring of containers and hosts</a:t>
            </a:r>
            <a:endParaRPr/>
          </a:p>
          <a:p>
            <a:pPr indent="-342900" lvl="0" marL="457200" rtl="0" algn="l">
              <a:lnSpc>
                <a:spcPct val="115000"/>
              </a:lnSpc>
              <a:spcBef>
                <a:spcPts val="0"/>
              </a:spcBef>
              <a:spcAft>
                <a:spcPts val="0"/>
              </a:spcAft>
              <a:buSzPts val="1800"/>
              <a:buChar char="●"/>
            </a:pPr>
            <a:r>
              <a:rPr lang="en"/>
              <a:t>Configuration of an application in relation to the containers running 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Why Kubernetes?</a:t>
            </a:r>
            <a:endParaRPr/>
          </a:p>
        </p:txBody>
      </p:sp>
      <p:sp>
        <p:nvSpPr>
          <p:cNvPr id="108" name="Google Shape;108;p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Agile application creation and deployment: Increased ease and efficiency of container image creation compared to VM image use.</a:t>
            </a:r>
            <a:endParaRPr/>
          </a:p>
          <a:p>
            <a:pPr indent="-342900" lvl="0" marL="457200" rtl="0" algn="l">
              <a:lnSpc>
                <a:spcPct val="115000"/>
              </a:lnSpc>
              <a:spcBef>
                <a:spcPts val="0"/>
              </a:spcBef>
              <a:spcAft>
                <a:spcPts val="0"/>
              </a:spcAft>
              <a:buSzPts val="1800"/>
              <a:buChar char="●"/>
            </a:pPr>
            <a:r>
              <a:rPr lang="en"/>
              <a:t>Continuous development, integration, and deployment: Provides for reliable and frequent container image build and deployment with quick and easy rollbacks (due to image immutability).</a:t>
            </a:r>
            <a:endParaRPr/>
          </a:p>
          <a:p>
            <a:pPr indent="-342900" lvl="0" marL="457200" rtl="0" algn="l">
              <a:lnSpc>
                <a:spcPct val="115000"/>
              </a:lnSpc>
              <a:spcBef>
                <a:spcPts val="0"/>
              </a:spcBef>
              <a:spcAft>
                <a:spcPts val="0"/>
              </a:spcAft>
              <a:buSzPts val="1800"/>
              <a:buChar char="●"/>
            </a:pPr>
            <a:r>
              <a:rPr lang="en"/>
              <a:t>Dev and Ops separation of concerns: Create application container images at build/release time rather than deployment time, thereby decoupling applications from infrastructure.</a:t>
            </a:r>
            <a:endParaRPr/>
          </a:p>
          <a:p>
            <a:pPr indent="-342900" lvl="0" marL="457200" rtl="0" algn="l">
              <a:lnSpc>
                <a:spcPct val="115000"/>
              </a:lnSpc>
              <a:spcBef>
                <a:spcPts val="0"/>
              </a:spcBef>
              <a:spcAft>
                <a:spcPts val="0"/>
              </a:spcAft>
              <a:buSzPts val="1800"/>
              <a:buChar char="●"/>
            </a:pPr>
            <a:r>
              <a:rPr lang="en"/>
              <a:t>Observability Not only surfaces OS-level information and metrics, but also application health and other signals.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Why Kubernetes?</a:t>
            </a:r>
            <a:endParaRPr/>
          </a:p>
        </p:txBody>
      </p:sp>
      <p:sp>
        <p:nvSpPr>
          <p:cNvPr id="114" name="Google Shape;114;p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Environmental consistency across development, testing, and production: Runs the same on a laptop as it does in the cloud.</a:t>
            </a:r>
            <a:endParaRPr/>
          </a:p>
          <a:p>
            <a:pPr indent="-342900" lvl="0" marL="457200" rtl="0" algn="l">
              <a:lnSpc>
                <a:spcPct val="115000"/>
              </a:lnSpc>
              <a:spcBef>
                <a:spcPts val="0"/>
              </a:spcBef>
              <a:spcAft>
                <a:spcPts val="0"/>
              </a:spcAft>
              <a:buSzPts val="1800"/>
              <a:buChar char="●"/>
            </a:pPr>
            <a:r>
              <a:rPr lang="en"/>
              <a:t>Cloud and OS distribution portability: Runs on Ubuntu, RHEL, CoreOS, on-prem, Google Kubernetes Engine, and anywhere else.</a:t>
            </a:r>
            <a:endParaRPr/>
          </a:p>
          <a:p>
            <a:pPr indent="-342900" lvl="0" marL="457200" rtl="0" algn="l">
              <a:lnSpc>
                <a:spcPct val="115000"/>
              </a:lnSpc>
              <a:spcBef>
                <a:spcPts val="0"/>
              </a:spcBef>
              <a:spcAft>
                <a:spcPts val="0"/>
              </a:spcAft>
              <a:buSzPts val="1800"/>
              <a:buChar char="●"/>
            </a:pPr>
            <a:r>
              <a:rPr lang="en"/>
              <a:t>Application-centric management: Raises the level of abstraction from running an OS on virtual hardware to running an application on an OS using logical resources.</a:t>
            </a:r>
            <a:endParaRPr/>
          </a:p>
          <a:p>
            <a:pPr indent="-342900" lvl="0" marL="457200" rtl="0" algn="l">
              <a:lnSpc>
                <a:spcPct val="115000"/>
              </a:lnSpc>
              <a:spcBef>
                <a:spcPts val="0"/>
              </a:spcBef>
              <a:spcAft>
                <a:spcPts val="0"/>
              </a:spcAft>
              <a:buSzPts val="1800"/>
              <a:buChar char="●"/>
            </a:pPr>
            <a:r>
              <a:rPr lang="en"/>
              <a:t>Loosely coupled, distributed, elastic, liberated micro-services: Applications are broken into smaller, independent pieces and can be deployed and managed dynamically – not a monolithic stack running on one big single-purpose machine.</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2d0ea17dcf7_0_7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p:txBody>
      </p:sp>
      <p:pic>
        <p:nvPicPr>
          <p:cNvPr id="120" name="Google Shape;120;g2d0ea17dcf7_0_79"/>
          <p:cNvPicPr preferRelativeResize="0"/>
          <p:nvPr/>
        </p:nvPicPr>
        <p:blipFill rotWithShape="1">
          <a:blip r:embed="rId3">
            <a:alphaModFix/>
          </a:blip>
          <a:srcRect b="0" l="0" r="0" t="0"/>
          <a:stretch/>
        </p:blipFill>
        <p:spPr>
          <a:xfrm>
            <a:off x="0" y="200918"/>
            <a:ext cx="9144003" cy="47416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Architecture</a:t>
            </a:r>
            <a:endParaRPr/>
          </a:p>
        </p:txBody>
      </p:sp>
      <p:pic>
        <p:nvPicPr>
          <p:cNvPr id="126" name="Google Shape;126;p10"/>
          <p:cNvPicPr preferRelativeResize="0"/>
          <p:nvPr/>
        </p:nvPicPr>
        <p:blipFill rotWithShape="1">
          <a:blip r:embed="rId3">
            <a:alphaModFix/>
          </a:blip>
          <a:srcRect b="0" l="0" r="0" t="0"/>
          <a:stretch/>
        </p:blipFill>
        <p:spPr>
          <a:xfrm>
            <a:off x="374605" y="0"/>
            <a:ext cx="7541876" cy="5029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g283406ea950_0_0"/>
          <p:cNvPicPr preferRelativeResize="0"/>
          <p:nvPr/>
        </p:nvPicPr>
        <p:blipFill rotWithShape="1">
          <a:blip r:embed="rId3">
            <a:alphaModFix/>
          </a:blip>
          <a:srcRect b="0" l="0" r="0" t="0"/>
          <a:stretch/>
        </p:blipFill>
        <p:spPr>
          <a:xfrm>
            <a:off x="152400" y="152400"/>
            <a:ext cx="6416344" cy="4838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83406ea950_0_6"/>
          <p:cNvSpPr txBox="1"/>
          <p:nvPr>
            <p:ph idx="1" type="body"/>
          </p:nvPr>
        </p:nvSpPr>
        <p:spPr>
          <a:xfrm>
            <a:off x="311700" y="14087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a:t>API Server: </a:t>
            </a:r>
            <a:r>
              <a:rPr lang="en" sz="1600"/>
              <a:t>Central management point for Kubernetes, handling REST operations and cluster communication.</a:t>
            </a:r>
            <a:endParaRPr sz="1600"/>
          </a:p>
          <a:p>
            <a:pPr indent="0" lvl="0" marL="0" rtl="0" algn="l">
              <a:lnSpc>
                <a:spcPct val="115000"/>
              </a:lnSpc>
              <a:spcBef>
                <a:spcPts val="0"/>
              </a:spcBef>
              <a:spcAft>
                <a:spcPts val="0"/>
              </a:spcAft>
              <a:buSzPts val="1800"/>
              <a:buNone/>
            </a:pPr>
            <a:r>
              <a:rPr b="1" lang="en" sz="1600"/>
              <a:t>etcd:</a:t>
            </a:r>
            <a:r>
              <a:rPr lang="en" sz="1600"/>
              <a:t> Key-value store that maintains cluster state and configuration data.</a:t>
            </a:r>
            <a:endParaRPr sz="1600"/>
          </a:p>
          <a:p>
            <a:pPr indent="0" lvl="0" marL="0" rtl="0" algn="l">
              <a:lnSpc>
                <a:spcPct val="115000"/>
              </a:lnSpc>
              <a:spcBef>
                <a:spcPts val="0"/>
              </a:spcBef>
              <a:spcAft>
                <a:spcPts val="0"/>
              </a:spcAft>
              <a:buSzPts val="1800"/>
              <a:buNone/>
            </a:pPr>
            <a:r>
              <a:rPr lang="en" sz="1600"/>
              <a:t>Controller Manager: Controls and maintains the cluster's desired state by managing controllers.</a:t>
            </a:r>
            <a:endParaRPr sz="1600"/>
          </a:p>
          <a:p>
            <a:pPr indent="0" lvl="0" marL="0" rtl="0" algn="l">
              <a:lnSpc>
                <a:spcPct val="115000"/>
              </a:lnSpc>
              <a:spcBef>
                <a:spcPts val="0"/>
              </a:spcBef>
              <a:spcAft>
                <a:spcPts val="0"/>
              </a:spcAft>
              <a:buSzPts val="1800"/>
              <a:buNone/>
            </a:pPr>
            <a:r>
              <a:rPr b="1" lang="en" sz="1600"/>
              <a:t>Scheduler:</a:t>
            </a:r>
            <a:r>
              <a:rPr lang="en" sz="1600"/>
              <a:t> Assigns Pods to nodes based on resource availability and scheduling policies.</a:t>
            </a:r>
            <a:endParaRPr sz="1600"/>
          </a:p>
          <a:p>
            <a:pPr indent="0" lvl="0" marL="0" rtl="0" algn="l">
              <a:lnSpc>
                <a:spcPct val="115000"/>
              </a:lnSpc>
              <a:spcBef>
                <a:spcPts val="0"/>
              </a:spcBef>
              <a:spcAft>
                <a:spcPts val="0"/>
              </a:spcAft>
              <a:buSzPts val="1800"/>
              <a:buNone/>
            </a:pPr>
            <a:r>
              <a:rPr b="1" lang="en" sz="1600"/>
              <a:t>Kubelet:</a:t>
            </a:r>
            <a:r>
              <a:rPr lang="en" sz="1600"/>
              <a:t> Agent running on each node, ensuring containers are running in Pods as expected.</a:t>
            </a:r>
            <a:endParaRPr sz="1600"/>
          </a:p>
          <a:p>
            <a:pPr indent="0" lvl="0" marL="0" rtl="0" algn="l">
              <a:lnSpc>
                <a:spcPct val="115000"/>
              </a:lnSpc>
              <a:spcBef>
                <a:spcPts val="0"/>
              </a:spcBef>
              <a:spcAft>
                <a:spcPts val="0"/>
              </a:spcAft>
              <a:buSzPts val="1800"/>
              <a:buNone/>
            </a:pPr>
            <a:r>
              <a:rPr b="1" lang="en" sz="1600"/>
              <a:t>Kube-proxy: </a:t>
            </a:r>
            <a:r>
              <a:rPr lang="en" sz="1600"/>
              <a:t>Manages network routing for service discovery and load balancing across Pods.</a:t>
            </a:r>
            <a:endParaRPr sz="1600"/>
          </a:p>
          <a:p>
            <a:pPr indent="0" lvl="0" marL="0" rtl="0" algn="l">
              <a:lnSpc>
                <a:spcPct val="115000"/>
              </a:lnSpc>
              <a:spcBef>
                <a:spcPts val="0"/>
              </a:spcBef>
              <a:spcAft>
                <a:spcPts val="0"/>
              </a:spcAft>
              <a:buSzPts val="1800"/>
              <a:buNone/>
            </a:pPr>
            <a:r>
              <a:rPr b="1" lang="en" sz="1600"/>
              <a:t>Container Runtime:</a:t>
            </a:r>
            <a:r>
              <a:rPr lang="en" sz="1600"/>
              <a:t> Software (e.g., Docker, containerd) responsible for running containers on each node.</a:t>
            </a:r>
            <a:endParaRPr sz="1600"/>
          </a:p>
          <a:p>
            <a:pPr indent="0" lvl="0" marL="0" rtl="0" algn="l">
              <a:lnSpc>
                <a:spcPct val="115000"/>
              </a:lnSpc>
              <a:spcBef>
                <a:spcPts val="0"/>
              </a:spcBef>
              <a:spcAft>
                <a:spcPts val="0"/>
              </a:spcAft>
              <a:buSzPts val="1800"/>
              <a:buNone/>
            </a:pPr>
            <a:r>
              <a:rPr b="1" lang="en" sz="1600"/>
              <a:t>kubectl:</a:t>
            </a:r>
            <a:r>
              <a:rPr lang="en" sz="1600"/>
              <a:t> Command-line tool to interact with the Kubernetes cluster and manage its resources.</a:t>
            </a:r>
            <a:endParaRPr sz="1300">
              <a:solidFill>
                <a:srgbClr val="00000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83406ea950_0_12"/>
          <p:cNvSpPr txBox="1"/>
          <p:nvPr>
            <p:ph idx="1" type="body"/>
          </p:nvPr>
        </p:nvSpPr>
        <p:spPr>
          <a:xfrm>
            <a:off x="255800" y="1202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100">
                <a:solidFill>
                  <a:srgbClr val="000000"/>
                </a:solidFill>
                <a:latin typeface="Arial"/>
                <a:ea typeface="Arial"/>
                <a:cs typeface="Arial"/>
                <a:sym typeface="Arial"/>
              </a:rPr>
              <a:t>Kubernetes components communicate with each other primarily through the API Server, using RESTful HTTP/HTTPS protocols. Here’s how this communication happens:</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API Server</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Acts as the central hub, exposing the Kubernetes API.</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All other components (Scheduler, Controller Manager, Kubelet, etc.) communicate with the API Server to get the current state of the cluster and to make changes.</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For instance, when a new Pod needs to be scheduled, the Scheduler fetches information from the API Server.</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etcd</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API Server interacts with etcd to store and retrieve cluster state and configuration.</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etcd serves as the backend database for the API Server, storing all cluster data in a consistent and reliable manner.</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Controller Manager</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Periodically fetches the desired state from the API Server.</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Updates the API Server with changes to bring the cluster to the desired state (e.g., creating or terminating Pods).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Scheduler</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Watches for unassigned Pods by querying the API Server.</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Selects an appropriate node for the Pod and informs the API Server, which updates the Pod's status.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83406ea950_0_18"/>
          <p:cNvSpPr txBox="1"/>
          <p:nvPr>
            <p:ph idx="1" type="body"/>
          </p:nvPr>
        </p:nvSpPr>
        <p:spPr>
          <a:xfrm>
            <a:off x="311700" y="511550"/>
            <a:ext cx="8520600" cy="3302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Kubelet</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Continuously communicates with the API Server to receive Pod specifications.</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Reports back to the API Server with the status of Pods running on the node.</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Interacts with the container runtime to start, stop, and manage containers based on the Pod specifications.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Kube-proxy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Listens to the API Server for updates on services and endpoints.</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Configures the node's network to ensure that traffic is correctly routed to Pods.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Container Runtime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Kubelet interacts with the container runtime (e.g., Docker, containerd) on the node to manage container lifecycle operations (start, stop, etc.).</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container runtime does not directly communicate with the API Server but relies on instructions from the Kubelet.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Architecture </a:t>
            </a:r>
            <a:endParaRPr/>
          </a:p>
        </p:txBody>
      </p:sp>
      <p:sp>
        <p:nvSpPr>
          <p:cNvPr id="152" name="Google Shape;152;p1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Master Components</a:t>
            </a:r>
            <a:endParaRPr/>
          </a:p>
          <a:p>
            <a:pPr indent="-317500" lvl="1" marL="914400" rtl="0" algn="l">
              <a:lnSpc>
                <a:spcPct val="115000"/>
              </a:lnSpc>
              <a:spcBef>
                <a:spcPts val="0"/>
              </a:spcBef>
              <a:spcAft>
                <a:spcPts val="0"/>
              </a:spcAft>
              <a:buSzPts val="1400"/>
              <a:buAutoNum type="alphaLcPeriod"/>
            </a:pPr>
            <a:r>
              <a:rPr lang="en"/>
              <a:t>Master components provide the cluster’s control plane. </a:t>
            </a:r>
            <a:endParaRPr/>
          </a:p>
          <a:p>
            <a:pPr indent="-317500" lvl="1" marL="914400" rtl="0" algn="l">
              <a:lnSpc>
                <a:spcPct val="115000"/>
              </a:lnSpc>
              <a:spcBef>
                <a:spcPts val="0"/>
              </a:spcBef>
              <a:spcAft>
                <a:spcPts val="0"/>
              </a:spcAft>
              <a:buSzPts val="1400"/>
              <a:buAutoNum type="alphaLcPeriod"/>
            </a:pPr>
            <a:r>
              <a:rPr lang="en"/>
              <a:t>Master components make global decisions about the cluster (for example, scheduling), and detecting and responding to cluster events (starting up a new pod when a replication controller’s ‘replicas’ field is unsatisfied). </a:t>
            </a:r>
            <a:endParaRPr/>
          </a:p>
          <a:p>
            <a:pPr indent="-317500" lvl="1" marL="914400" rtl="0" algn="l">
              <a:lnSpc>
                <a:spcPct val="115000"/>
              </a:lnSpc>
              <a:spcBef>
                <a:spcPts val="0"/>
              </a:spcBef>
              <a:spcAft>
                <a:spcPts val="0"/>
              </a:spcAft>
              <a:buSzPts val="1400"/>
              <a:buAutoNum type="alphaLcPeriod"/>
            </a:pPr>
            <a:r>
              <a:rPr lang="en"/>
              <a:t>Master components can be run on any machine in the cluster. </a:t>
            </a:r>
            <a:endParaRPr/>
          </a:p>
          <a:p>
            <a:pPr indent="-317500" lvl="1" marL="914400" rtl="0" algn="l">
              <a:lnSpc>
                <a:spcPct val="115000"/>
              </a:lnSpc>
              <a:spcBef>
                <a:spcPts val="0"/>
              </a:spcBef>
              <a:spcAft>
                <a:spcPts val="0"/>
              </a:spcAft>
              <a:buSzPts val="1400"/>
              <a:buAutoNum type="alphaLcPeriod"/>
            </a:pPr>
            <a:r>
              <a:rPr lang="en"/>
              <a:t>Master components can be api server, etcd, scheduler.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t>Kubernetes Architecture</a:t>
            </a:r>
            <a:endParaRPr/>
          </a:p>
        </p:txBody>
      </p:sp>
      <p:sp>
        <p:nvSpPr>
          <p:cNvPr id="158" name="Google Shape;158;p1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Node components </a:t>
            </a:r>
            <a:endParaRPr/>
          </a:p>
          <a:p>
            <a:pPr indent="-317500" lvl="1" marL="914400" rtl="0" algn="l">
              <a:lnSpc>
                <a:spcPct val="115000"/>
              </a:lnSpc>
              <a:spcBef>
                <a:spcPts val="0"/>
              </a:spcBef>
              <a:spcAft>
                <a:spcPts val="0"/>
              </a:spcAft>
              <a:buSzPts val="1400"/>
              <a:buAutoNum type="alphaLcPeriod"/>
            </a:pPr>
            <a:r>
              <a:rPr lang="en"/>
              <a:t>Node components run on every node, maintaining running pods and providing the Kubernetes runtime environment.</a:t>
            </a:r>
            <a:endParaRPr/>
          </a:p>
          <a:p>
            <a:pPr indent="-317500" lvl="1" marL="914400" rtl="0" algn="l">
              <a:lnSpc>
                <a:spcPct val="115000"/>
              </a:lnSpc>
              <a:spcBef>
                <a:spcPts val="0"/>
              </a:spcBef>
              <a:spcAft>
                <a:spcPts val="0"/>
              </a:spcAft>
              <a:buSzPts val="1400"/>
              <a:buAutoNum type="alphaLcPeriod"/>
            </a:pPr>
            <a:r>
              <a:rPr lang="en"/>
              <a:t>Node components can be kubelet, proxy and container runtime</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Working With Kubernetes</a:t>
            </a:r>
            <a:endParaRPr/>
          </a:p>
        </p:txBody>
      </p:sp>
      <p:sp>
        <p:nvSpPr>
          <p:cNvPr id="164" name="Google Shape;164;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To work with Kubernetes, you use Kubernetes API objects to describe your cluster’s desired state </a:t>
            </a:r>
            <a:endParaRPr/>
          </a:p>
          <a:p>
            <a:pPr indent="-342900" lvl="0" marL="457200" rtl="0" algn="l">
              <a:lnSpc>
                <a:spcPct val="115000"/>
              </a:lnSpc>
              <a:spcBef>
                <a:spcPts val="0"/>
              </a:spcBef>
              <a:spcAft>
                <a:spcPts val="0"/>
              </a:spcAft>
              <a:buSzPts val="1800"/>
              <a:buChar char="●"/>
            </a:pPr>
            <a:r>
              <a:rPr lang="en"/>
              <a:t> You describe what applications or other workloads you want to run, what container images they use, the number of replicas, what network and disk resources you want to make available, and more.</a:t>
            </a:r>
            <a:endParaRPr/>
          </a:p>
          <a:p>
            <a:pPr indent="-342900" lvl="0" marL="457200" rtl="0" algn="l">
              <a:lnSpc>
                <a:spcPct val="115000"/>
              </a:lnSpc>
              <a:spcBef>
                <a:spcPts val="0"/>
              </a:spcBef>
              <a:spcAft>
                <a:spcPts val="0"/>
              </a:spcAft>
              <a:buSzPts val="1800"/>
              <a:buChar char="●"/>
            </a:pPr>
            <a:r>
              <a:rPr lang="en"/>
              <a:t> You set your desired state by creating objects using the Kubernetes API, typically via the command-line interface, kubectl. </a:t>
            </a:r>
            <a:endParaRPr/>
          </a:p>
          <a:p>
            <a:pPr indent="-342900" lvl="0" marL="457200" rtl="0" algn="l">
              <a:lnSpc>
                <a:spcPct val="115000"/>
              </a:lnSpc>
              <a:spcBef>
                <a:spcPts val="0"/>
              </a:spcBef>
              <a:spcAft>
                <a:spcPts val="0"/>
              </a:spcAft>
              <a:buSzPts val="1800"/>
              <a:buChar char="●"/>
            </a:pPr>
            <a:r>
              <a:rPr lang="en"/>
              <a:t>You can also use the Kubernetes API directly to interact with the cluster and set or modify your desired state.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Environment Setup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Kubectl CLI</a:t>
            </a:r>
            <a:endParaRPr/>
          </a:p>
        </p:txBody>
      </p:sp>
      <p:sp>
        <p:nvSpPr>
          <p:cNvPr id="175" name="Google Shape;175;p1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Use the Kubernetes command-line tool, kubectl, to deploy and manage applications on Kubernetes. </a:t>
            </a:r>
            <a:endParaRPr/>
          </a:p>
          <a:p>
            <a:pPr indent="-342900" lvl="0" marL="457200" rtl="0" algn="l">
              <a:lnSpc>
                <a:spcPct val="115000"/>
              </a:lnSpc>
              <a:spcBef>
                <a:spcPts val="0"/>
              </a:spcBef>
              <a:spcAft>
                <a:spcPts val="0"/>
              </a:spcAft>
              <a:buSzPts val="1800"/>
              <a:buChar char="●"/>
            </a:pPr>
            <a:r>
              <a:rPr lang="en"/>
              <a:t>Using kubectl, you can inspect cluster resources; </a:t>
            </a:r>
            <a:endParaRPr/>
          </a:p>
          <a:p>
            <a:pPr indent="-342900" lvl="0" marL="457200" rtl="0" algn="l">
              <a:lnSpc>
                <a:spcPct val="115000"/>
              </a:lnSpc>
              <a:spcBef>
                <a:spcPts val="0"/>
              </a:spcBef>
              <a:spcAft>
                <a:spcPts val="0"/>
              </a:spcAft>
              <a:buSzPts val="1800"/>
              <a:buChar char="●"/>
            </a:pPr>
            <a:r>
              <a:rPr lang="en"/>
              <a:t>With Kubectl you can also create, delete, and update components within your kubernetes cluster</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Kubectl CLI</a:t>
            </a:r>
            <a:endParaRPr/>
          </a:p>
          <a:p>
            <a:pPr indent="0" lvl="0" marL="0" rtl="0" algn="l">
              <a:lnSpc>
                <a:spcPct val="100000"/>
              </a:lnSpc>
              <a:spcBef>
                <a:spcPts val="0"/>
              </a:spcBef>
              <a:spcAft>
                <a:spcPts val="0"/>
              </a:spcAft>
              <a:buSzPts val="3600"/>
              <a:buNone/>
            </a:pPr>
            <a:r>
              <a:t/>
            </a:r>
            <a:endParaRPr/>
          </a:p>
        </p:txBody>
      </p:sp>
      <p:sp>
        <p:nvSpPr>
          <p:cNvPr id="181" name="Google Shape;181;p1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Kubectl command allows us to work in two methods:</a:t>
            </a:r>
            <a:endParaRPr/>
          </a:p>
          <a:p>
            <a:pPr indent="-317500" lvl="1" marL="914400" rtl="0" algn="l">
              <a:lnSpc>
                <a:spcPct val="115000"/>
              </a:lnSpc>
              <a:spcBef>
                <a:spcPts val="0"/>
              </a:spcBef>
              <a:spcAft>
                <a:spcPts val="0"/>
              </a:spcAft>
              <a:buSzPts val="1400"/>
              <a:buAutoNum type="alphaLcPeriod"/>
            </a:pPr>
            <a:r>
              <a:rPr lang="en"/>
              <a:t>Declarative.</a:t>
            </a:r>
            <a:endParaRPr/>
          </a:p>
          <a:p>
            <a:pPr indent="-317500" lvl="1" marL="914400" rtl="0" algn="l">
              <a:lnSpc>
                <a:spcPct val="115000"/>
              </a:lnSpc>
              <a:spcBef>
                <a:spcPts val="0"/>
              </a:spcBef>
              <a:spcAft>
                <a:spcPts val="0"/>
              </a:spcAft>
              <a:buSzPts val="1400"/>
              <a:buAutoNum type="alphaLcPeriod"/>
            </a:pPr>
            <a:r>
              <a:rPr lang="en"/>
              <a:t>Ad Hoc commands. </a:t>
            </a:r>
            <a:endParaRPr/>
          </a:p>
          <a:p>
            <a:pPr indent="-342900" lvl="0" marL="457200" rtl="0" algn="l">
              <a:lnSpc>
                <a:spcPct val="115000"/>
              </a:lnSpc>
              <a:spcBef>
                <a:spcPts val="0"/>
              </a:spcBef>
              <a:spcAft>
                <a:spcPts val="0"/>
              </a:spcAft>
              <a:buSzPts val="1800"/>
              <a:buChar char="●"/>
            </a:pPr>
            <a:r>
              <a:rPr lang="en"/>
              <a:t>When working in declarative way we will create a YAML file that will describe our kubernetes components and kubectl will be used to deploy, update or remove them from our cluster. </a:t>
            </a:r>
            <a:endParaRPr/>
          </a:p>
          <a:p>
            <a:pPr indent="-342900" lvl="0" marL="457200" rtl="0" algn="l">
              <a:lnSpc>
                <a:spcPct val="115000"/>
              </a:lnSpc>
              <a:spcBef>
                <a:spcPts val="0"/>
              </a:spcBef>
              <a:spcAft>
                <a:spcPts val="0"/>
              </a:spcAft>
              <a:buSzPts val="1800"/>
              <a:buChar char="●"/>
            </a:pPr>
            <a:r>
              <a:rPr lang="en"/>
              <a:t>When working in Ad Hoc commands we will run specific commands against our kubernetes cluster.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Kubectl CLI</a:t>
            </a:r>
            <a:endParaRPr/>
          </a:p>
        </p:txBody>
      </p:sp>
      <p:sp>
        <p:nvSpPr>
          <p:cNvPr id="187" name="Google Shape;187;p1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Open CMD /  Terminal:</a:t>
            </a:r>
            <a:endParaRPr/>
          </a:p>
          <a:p>
            <a:pPr indent="-317500" lvl="1" marL="914400" rtl="0" algn="l">
              <a:lnSpc>
                <a:spcPct val="115000"/>
              </a:lnSpc>
              <a:spcBef>
                <a:spcPts val="0"/>
              </a:spcBef>
              <a:spcAft>
                <a:spcPts val="0"/>
              </a:spcAft>
              <a:buSzPts val="1400"/>
              <a:buChar char="○"/>
            </a:pPr>
            <a:r>
              <a:rPr lang="en"/>
              <a:t>Run minikube start</a:t>
            </a:r>
            <a:endParaRPr/>
          </a:p>
        </p:txBody>
      </p:sp>
      <p:pic>
        <p:nvPicPr>
          <p:cNvPr id="188" name="Google Shape;188;p17"/>
          <p:cNvPicPr preferRelativeResize="0"/>
          <p:nvPr/>
        </p:nvPicPr>
        <p:blipFill rotWithShape="1">
          <a:blip r:embed="rId3">
            <a:alphaModFix/>
          </a:blip>
          <a:srcRect b="0" l="0" r="0" t="0"/>
          <a:stretch/>
        </p:blipFill>
        <p:spPr>
          <a:xfrm>
            <a:off x="895075" y="2038350"/>
            <a:ext cx="6302975" cy="2470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Kubectl CLI</a:t>
            </a:r>
            <a:endParaRPr/>
          </a:p>
        </p:txBody>
      </p:sp>
      <p:sp>
        <p:nvSpPr>
          <p:cNvPr id="194" name="Google Shape;194;p1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Open CMD /  Terminal:</a:t>
            </a:r>
            <a:endParaRPr/>
          </a:p>
          <a:p>
            <a:pPr indent="-317500" lvl="1" marL="914400" rtl="0" algn="l">
              <a:lnSpc>
                <a:spcPct val="115000"/>
              </a:lnSpc>
              <a:spcBef>
                <a:spcPts val="0"/>
              </a:spcBef>
              <a:spcAft>
                <a:spcPts val="0"/>
              </a:spcAft>
              <a:buSzPts val="1400"/>
              <a:buChar char="○"/>
            </a:pPr>
            <a:r>
              <a:rPr lang="en"/>
              <a:t>Run minikube dashboard</a:t>
            </a:r>
            <a:endParaRPr/>
          </a:p>
        </p:txBody>
      </p:sp>
      <p:pic>
        <p:nvPicPr>
          <p:cNvPr id="195" name="Google Shape;195;p18"/>
          <p:cNvPicPr preferRelativeResize="0"/>
          <p:nvPr/>
        </p:nvPicPr>
        <p:blipFill rotWithShape="1">
          <a:blip r:embed="rId3">
            <a:alphaModFix/>
          </a:blip>
          <a:srcRect b="0" l="0" r="38417" t="0"/>
          <a:stretch/>
        </p:blipFill>
        <p:spPr>
          <a:xfrm>
            <a:off x="729450" y="2653925"/>
            <a:ext cx="5572301" cy="1943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t/>
            </a:r>
            <a:endParaRPr/>
          </a:p>
        </p:txBody>
      </p:sp>
      <p:sp>
        <p:nvSpPr>
          <p:cNvPr id="201" name="Google Shape;201;p1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202" name="Google Shape;202;p19"/>
          <p:cNvPicPr preferRelativeResize="0"/>
          <p:nvPr/>
        </p:nvPicPr>
        <p:blipFill rotWithShape="1">
          <a:blip r:embed="rId3">
            <a:alphaModFix/>
          </a:blip>
          <a:srcRect b="15616" l="0" r="8430" t="0"/>
          <a:stretch/>
        </p:blipFill>
        <p:spPr>
          <a:xfrm>
            <a:off x="442500" y="618000"/>
            <a:ext cx="8369347" cy="433997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txBox="1"/>
          <p:nvPr>
            <p:ph type="title"/>
          </p:nvPr>
        </p:nvSpPr>
        <p:spPr>
          <a:xfrm>
            <a:off x="276700" y="158100"/>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Components Hierarchy</a:t>
            </a:r>
            <a:endParaRPr/>
          </a:p>
        </p:txBody>
      </p:sp>
      <p:pic>
        <p:nvPicPr>
          <p:cNvPr id="208" name="Google Shape;208;p20"/>
          <p:cNvPicPr preferRelativeResize="0"/>
          <p:nvPr/>
        </p:nvPicPr>
        <p:blipFill rotWithShape="1">
          <a:blip r:embed="rId3">
            <a:alphaModFix/>
          </a:blip>
          <a:srcRect b="0" l="0" r="0" t="0"/>
          <a:stretch/>
        </p:blipFill>
        <p:spPr>
          <a:xfrm>
            <a:off x="2596853" y="865488"/>
            <a:ext cx="3533401" cy="3966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Pods</a:t>
            </a:r>
            <a:endParaRPr/>
          </a:p>
        </p:txBody>
      </p:sp>
      <p:sp>
        <p:nvSpPr>
          <p:cNvPr id="214" name="Google Shape;214;p2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pod (as in a pod of whales or pea pod) is a group of one or more containers (such as Docker containers), with shared storage/network, and a specification for how to run the containers. </a:t>
            </a:r>
            <a:endParaRPr/>
          </a:p>
          <a:p>
            <a:pPr indent="-342900" lvl="0" marL="457200" rtl="0" algn="l">
              <a:lnSpc>
                <a:spcPct val="115000"/>
              </a:lnSpc>
              <a:spcBef>
                <a:spcPts val="0"/>
              </a:spcBef>
              <a:spcAft>
                <a:spcPts val="0"/>
              </a:spcAft>
              <a:buSzPts val="1800"/>
              <a:buChar char="●"/>
            </a:pPr>
            <a:r>
              <a:rPr lang="en"/>
              <a:t>A pod’s contents are always co-located and co-scheduled, and run in a shared context. </a:t>
            </a:r>
            <a:endParaRPr/>
          </a:p>
          <a:p>
            <a:pPr indent="-342900" lvl="0" marL="457200" rtl="0" algn="l">
              <a:lnSpc>
                <a:spcPct val="115000"/>
              </a:lnSpc>
              <a:spcBef>
                <a:spcPts val="0"/>
              </a:spcBef>
              <a:spcAft>
                <a:spcPts val="0"/>
              </a:spcAft>
              <a:buSzPts val="1800"/>
              <a:buChar char="●"/>
            </a:pPr>
            <a:r>
              <a:rPr lang="en"/>
              <a:t>A pod models an application-specific “logical host” - it contains one or more application containers which are relatively tightly coupled — in a pre-container world, being executed on the same physical or virtual machine would mean being executed on the same logical host.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d0ea17dcf7_0_0"/>
          <p:cNvSpPr txBox="1"/>
          <p:nvPr>
            <p:ph idx="1" type="body"/>
          </p:nvPr>
        </p:nvSpPr>
        <p:spPr>
          <a:xfrm>
            <a:off x="179825" y="189250"/>
            <a:ext cx="8520600" cy="330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lang="en" sz="3600">
                <a:solidFill>
                  <a:schemeClr val="accent1"/>
                </a:solidFill>
                <a:latin typeface="PT Sans Narrow"/>
                <a:ea typeface="PT Sans Narrow"/>
                <a:cs typeface="PT Sans Narrow"/>
                <a:sym typeface="PT Sans Narrow"/>
              </a:rPr>
              <a:t>Understanding Pod Networking</a:t>
            </a:r>
            <a:endParaRPr b="1">
              <a:solidFill>
                <a:srgbClr val="242424"/>
              </a:solidFill>
              <a:highlight>
                <a:srgbClr val="FFFFFF"/>
              </a:highlight>
              <a:latin typeface="Arial"/>
              <a:ea typeface="Arial"/>
              <a:cs typeface="Arial"/>
              <a:sym typeface="Arial"/>
            </a:endParaRPr>
          </a:p>
          <a:p>
            <a:pPr indent="0" lvl="0" marL="0" rtl="0" algn="l">
              <a:lnSpc>
                <a:spcPct val="218181"/>
              </a:lnSpc>
              <a:spcBef>
                <a:spcPts val="1400"/>
              </a:spcBef>
              <a:spcAft>
                <a:spcPts val="0"/>
              </a:spcAft>
              <a:buSzPts val="1800"/>
              <a:buNone/>
            </a:pPr>
            <a:r>
              <a:rPr lang="en"/>
              <a:t>Pods in Kubernetes are assigned unique IP addresses within a cluster, enabling direct communication between them. By default, each pod is isolated and has its own IP address, which allows for secure communication and avoids port conflicts. These IP addresses are reachable only within the Kubernetes cluster network unless specific configurations are made for external access</a:t>
            </a:r>
            <a:r>
              <a:rPr lang="en" sz="1100">
                <a:solidFill>
                  <a:srgbClr val="242424"/>
                </a:solidFill>
                <a:highlight>
                  <a:srgbClr val="FFFFFF"/>
                </a:highlight>
                <a:latin typeface="Georgia"/>
                <a:ea typeface="Georgia"/>
                <a:cs typeface="Georgia"/>
                <a:sym typeface="Georgia"/>
              </a:rPr>
              <a:t>.</a:t>
            </a:r>
            <a:endParaRPr sz="1100">
              <a:solidFill>
                <a:srgbClr val="242424"/>
              </a:solidFill>
              <a:highlight>
                <a:srgbClr val="FFFFFF"/>
              </a:highlight>
              <a:latin typeface="Georgia"/>
              <a:ea typeface="Georgia"/>
              <a:cs typeface="Georgia"/>
              <a:sym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2d0ea17dcf7_0_6"/>
          <p:cNvSpPr txBox="1"/>
          <p:nvPr>
            <p:ph idx="1" type="body"/>
          </p:nvPr>
        </p:nvSpPr>
        <p:spPr>
          <a:xfrm>
            <a:off x="187125" y="291850"/>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97826"/>
              </a:lnSpc>
              <a:spcBef>
                <a:spcPts val="4500"/>
              </a:spcBef>
              <a:spcAft>
                <a:spcPts val="0"/>
              </a:spcAft>
              <a:buSzPts val="1800"/>
              <a:buNone/>
            </a:pPr>
            <a:r>
              <a:rPr b="1" lang="en" sz="3600">
                <a:solidFill>
                  <a:schemeClr val="accent1"/>
                </a:solidFill>
                <a:latin typeface="PT Sans Narrow"/>
                <a:ea typeface="PT Sans Narrow"/>
                <a:cs typeface="PT Sans Narrow"/>
                <a:sym typeface="PT Sans Narrow"/>
              </a:rPr>
              <a:t>Kubernetes Networking Model</a:t>
            </a:r>
            <a:endParaRPr b="1">
              <a:solidFill>
                <a:srgbClr val="242424"/>
              </a:solidFill>
              <a:highlight>
                <a:srgbClr val="FFFFFF"/>
              </a:highlight>
              <a:latin typeface="Arial"/>
              <a:ea typeface="Arial"/>
              <a:cs typeface="Arial"/>
              <a:sym typeface="Arial"/>
            </a:endParaRPr>
          </a:p>
          <a:p>
            <a:pPr indent="0" lvl="0" marL="457200" rtl="0" algn="l">
              <a:lnSpc>
                <a:spcPct val="218181"/>
              </a:lnSpc>
              <a:spcBef>
                <a:spcPts val="1400"/>
              </a:spcBef>
              <a:spcAft>
                <a:spcPts val="0"/>
              </a:spcAft>
              <a:buSzPts val="1800"/>
              <a:buNone/>
            </a:pPr>
            <a:r>
              <a:rPr b="1" lang="en" sz="1400" u="sng"/>
              <a:t>Pod-to-Pod Communication within the Same Node: </a:t>
            </a:r>
            <a:endParaRPr b="1" sz="1400" u="sng"/>
          </a:p>
          <a:p>
            <a:pPr indent="0" lvl="0" marL="457200" marR="0" rtl="0" algn="l">
              <a:lnSpc>
                <a:spcPct val="218181"/>
              </a:lnSpc>
              <a:spcBef>
                <a:spcPts val="1400"/>
              </a:spcBef>
              <a:spcAft>
                <a:spcPts val="0"/>
              </a:spcAft>
              <a:buSzPts val="1800"/>
              <a:buNone/>
            </a:pPr>
            <a:r>
              <a:rPr lang="en" sz="1500"/>
              <a:t>When multiple pods are scheduled on the same node, they can communicate with each other directly using localhost or the loopback interface. This communication happens through the pod’s assigned IP address within the cluster, typically in the form of a Virtual Ethernet (veth) pair. The communication occurs at the network layer, enabling high-performance and low-latency interactions between pods on the same node.</a:t>
            </a:r>
            <a:endParaRPr sz="1500"/>
          </a:p>
          <a:p>
            <a:pPr indent="0" lvl="0" marL="457200" marR="0" rtl="0" algn="l">
              <a:lnSpc>
                <a:spcPct val="218181"/>
              </a:lnSpc>
              <a:spcBef>
                <a:spcPts val="1400"/>
              </a:spcBef>
              <a:spcAft>
                <a:spcPts val="0"/>
              </a:spcAft>
              <a:buSzPts val="1800"/>
              <a:buNone/>
            </a:pPr>
            <a:r>
              <a:t/>
            </a: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d0ea17dcf7_0_12"/>
          <p:cNvSpPr txBox="1"/>
          <p:nvPr>
            <p:ph idx="1" type="body"/>
          </p:nvPr>
        </p:nvSpPr>
        <p:spPr>
          <a:xfrm>
            <a:off x="150500" y="167300"/>
            <a:ext cx="8520600" cy="3302700"/>
          </a:xfrm>
          <a:prstGeom prst="rect">
            <a:avLst/>
          </a:prstGeom>
          <a:noFill/>
          <a:ln>
            <a:noFill/>
          </a:ln>
        </p:spPr>
        <p:txBody>
          <a:bodyPr anchorCtr="0" anchor="t" bIns="91425" lIns="91425" spcFirstLastPara="1" rIns="91425" wrap="square" tIns="91425">
            <a:noAutofit/>
          </a:bodyPr>
          <a:lstStyle/>
          <a:p>
            <a:pPr indent="0" lvl="0" marL="457200" marR="0" rtl="0" algn="l">
              <a:lnSpc>
                <a:spcPct val="218181"/>
              </a:lnSpc>
              <a:spcBef>
                <a:spcPts val="1400"/>
              </a:spcBef>
              <a:spcAft>
                <a:spcPts val="0"/>
              </a:spcAft>
              <a:buSzPts val="1800"/>
              <a:buNone/>
            </a:pPr>
            <a:r>
              <a:rPr b="1" lang="en" sz="1500" u="sng"/>
              <a:t>Pod-to-Pod Communication across Nodes: </a:t>
            </a:r>
            <a:endParaRPr b="1" sz="1500" u="sng"/>
          </a:p>
          <a:p>
            <a:pPr indent="0" lvl="0" marL="457200" marR="0" rtl="0" algn="l">
              <a:lnSpc>
                <a:spcPct val="218181"/>
              </a:lnSpc>
              <a:spcBef>
                <a:spcPts val="1400"/>
              </a:spcBef>
              <a:spcAft>
                <a:spcPts val="0"/>
              </a:spcAft>
              <a:buSzPts val="1800"/>
              <a:buNone/>
            </a:pPr>
            <a:r>
              <a:rPr lang="en" sz="1500"/>
              <a:t>When pods need to communicate across different nodes in the cluster, Kubernetes employs various networking solutions, such as Container Network Interfaces (CNIs) and software-defined networking (SDN) technologies. These solutions create a virtual network overlay that spans the entire cluster, enabling pod-to-pod communication across nodes. These networking solutions ensure that the pod’s IP address remains reachable and provides transparent network connectivity regardless of the pod’s location within the cluster.</a:t>
            </a:r>
            <a:endParaRPr sz="1600">
              <a:solidFill>
                <a:srgbClr val="242424"/>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SzPts val="1800"/>
              <a:buNone/>
            </a:pPr>
            <a:r>
              <a:t/>
            </a:r>
            <a:endParaRPr sz="19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2d0ea17dcf7_0_17"/>
          <p:cNvSpPr txBox="1"/>
          <p:nvPr>
            <p:ph idx="1" type="body"/>
          </p:nvPr>
        </p:nvSpPr>
        <p:spPr>
          <a:xfrm>
            <a:off x="201800" y="1746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97826"/>
              </a:lnSpc>
              <a:spcBef>
                <a:spcPts val="4500"/>
              </a:spcBef>
              <a:spcAft>
                <a:spcPts val="0"/>
              </a:spcAft>
              <a:buSzPts val="1800"/>
              <a:buNone/>
            </a:pPr>
            <a:r>
              <a:rPr b="1" lang="en" sz="1500" u="sng"/>
              <a:t>Cluster-Internal Communication:</a:t>
            </a:r>
            <a:endParaRPr b="1" sz="1500" u="sng"/>
          </a:p>
          <a:p>
            <a:pPr indent="0" lvl="0" marL="0" rtl="0" algn="l">
              <a:lnSpc>
                <a:spcPct val="218181"/>
              </a:lnSpc>
              <a:spcBef>
                <a:spcPts val="1400"/>
              </a:spcBef>
              <a:spcAft>
                <a:spcPts val="0"/>
              </a:spcAft>
              <a:buSzPts val="1800"/>
              <a:buNone/>
            </a:pPr>
            <a:r>
              <a:rPr lang="en" sz="1500"/>
              <a:t>By default, pods within a Kubernetes cluster can communicate with each other using their internal IP addresses. This communication happens over a virtual network overlay provided by the underlying container runtime or network plugin. The internal IP addresses are assigned by the Kubernetes cluster networking solution and are routable only within the cluster.</a:t>
            </a:r>
            <a:endParaRPr sz="1500">
              <a:solidFill>
                <a:srgbClr val="242424"/>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2d0ea17dcf7_0_23"/>
          <p:cNvSpPr txBox="1"/>
          <p:nvPr>
            <p:ph idx="1" type="body"/>
          </p:nvPr>
        </p:nvSpPr>
        <p:spPr>
          <a:xfrm>
            <a:off x="311700" y="72747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97826"/>
              </a:lnSpc>
              <a:spcBef>
                <a:spcPts val="4500"/>
              </a:spcBef>
              <a:spcAft>
                <a:spcPts val="0"/>
              </a:spcAft>
              <a:buSzPts val="1800"/>
              <a:buNone/>
            </a:pPr>
            <a:r>
              <a:rPr b="1" lang="en" sz="1500" u="sng"/>
              <a:t>DNS-Based Service Discovery:</a:t>
            </a:r>
            <a:endParaRPr b="1" u="sng">
              <a:solidFill>
                <a:srgbClr val="242424"/>
              </a:solidFill>
              <a:highlight>
                <a:srgbClr val="FFFFFF"/>
              </a:highlight>
              <a:latin typeface="Arial"/>
              <a:ea typeface="Arial"/>
              <a:cs typeface="Arial"/>
              <a:sym typeface="Arial"/>
            </a:endParaRPr>
          </a:p>
          <a:p>
            <a:pPr indent="0" lvl="0" marL="0" rtl="0" algn="l">
              <a:lnSpc>
                <a:spcPct val="218181"/>
              </a:lnSpc>
              <a:spcBef>
                <a:spcPts val="1400"/>
              </a:spcBef>
              <a:spcAft>
                <a:spcPts val="0"/>
              </a:spcAft>
              <a:buSzPts val="1800"/>
              <a:buNone/>
            </a:pPr>
            <a:r>
              <a:rPr lang="en" sz="1500"/>
              <a:t>Kubernetes provides a built-in DNS service for service discovery within the cluster. Services act as stable endpoints that abstract the underlying pods. Each service is assigned a DNS name, which resolves to the IP addresses of the pods backing that service. This DNS-based approach allows pods to communicate with each other using the service names rather than directly referencing the individual pod IP addresses.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2d0ea17dcf7_0_28"/>
          <p:cNvSpPr txBox="1"/>
          <p:nvPr>
            <p:ph idx="1" type="body"/>
          </p:nvPr>
        </p:nvSpPr>
        <p:spPr>
          <a:xfrm>
            <a:off x="311700" y="438400"/>
            <a:ext cx="8520600" cy="3302700"/>
          </a:xfrm>
          <a:prstGeom prst="rect">
            <a:avLst/>
          </a:prstGeom>
          <a:noFill/>
          <a:ln>
            <a:noFill/>
          </a:ln>
        </p:spPr>
        <p:txBody>
          <a:bodyPr anchorCtr="0" anchor="t" bIns="91425" lIns="91425" spcFirstLastPara="1" rIns="91425" wrap="square" tIns="91425">
            <a:noAutofit/>
          </a:bodyPr>
          <a:lstStyle/>
          <a:p>
            <a:pPr indent="0" lvl="0" marL="0" marR="0" rtl="0" algn="l">
              <a:lnSpc>
                <a:spcPct val="218181"/>
              </a:lnSpc>
              <a:spcBef>
                <a:spcPts val="1400"/>
              </a:spcBef>
              <a:spcAft>
                <a:spcPts val="0"/>
              </a:spcAft>
              <a:buClr>
                <a:srgbClr val="000000"/>
              </a:buClr>
              <a:buSzPts val="1800"/>
              <a:buFont typeface="Arial"/>
              <a:buNone/>
            </a:pPr>
            <a:r>
              <a:rPr b="1" lang="en" sz="1500" u="sng"/>
              <a:t>Service Load Balancing:</a:t>
            </a:r>
            <a:endParaRPr b="1" sz="1500" u="sng"/>
          </a:p>
          <a:p>
            <a:pPr indent="0" lvl="0" marL="0" marR="0" rtl="0" algn="l">
              <a:lnSpc>
                <a:spcPct val="218181"/>
              </a:lnSpc>
              <a:spcBef>
                <a:spcPts val="1400"/>
              </a:spcBef>
              <a:spcAft>
                <a:spcPts val="0"/>
              </a:spcAft>
              <a:buSzPts val="1800"/>
              <a:buNone/>
            </a:pPr>
            <a:r>
              <a:rPr lang="en" sz="1500"/>
              <a:t>When multiple pods are serving the same application, Kubernetes provides built-in load balancing capabilities for distributing traffic across those pods. By creating a service object and associating it with a set of pods, Kubernetes automatically load balances the incoming requests among the available pods. This load balancing mechanism ensures high availability and scalability of the application.</a:t>
            </a:r>
            <a:endParaRPr sz="1500">
              <a:solidFill>
                <a:srgbClr val="242424"/>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d0ea17dcf7_0_35"/>
          <p:cNvSpPr txBox="1"/>
          <p:nvPr>
            <p:ph idx="1" type="body"/>
          </p:nvPr>
        </p:nvSpPr>
        <p:spPr>
          <a:xfrm>
            <a:off x="267750" y="5629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97826"/>
              </a:lnSpc>
              <a:spcBef>
                <a:spcPts val="4500"/>
              </a:spcBef>
              <a:spcAft>
                <a:spcPts val="0"/>
              </a:spcAft>
              <a:buSzPts val="1800"/>
              <a:buNone/>
            </a:pPr>
            <a:r>
              <a:rPr b="1" lang="en" sz="1500" u="sng"/>
              <a:t>Network Policies:</a:t>
            </a:r>
            <a:endParaRPr b="1" sz="1500" u="sng"/>
          </a:p>
          <a:p>
            <a:pPr indent="0" lvl="0" marL="0" rtl="0" algn="l">
              <a:lnSpc>
                <a:spcPct val="218181"/>
              </a:lnSpc>
              <a:spcBef>
                <a:spcPts val="1400"/>
              </a:spcBef>
              <a:spcAft>
                <a:spcPts val="0"/>
              </a:spcAft>
              <a:buSzPts val="1800"/>
              <a:buNone/>
            </a:pPr>
            <a:r>
              <a:rPr lang="en" sz="1500"/>
              <a:t>Kubernetes offers network policies as a means to control traffic flow between pods. Network policies define rules that specify which pods can communicate with each other based on various parameters such as IP addresses, ports, and protocols. By enforcing network policies, you can segment your application’s network traffic and add an additional layer of security.</a:t>
            </a:r>
            <a:endParaRPr sz="1500">
              <a:solidFill>
                <a:srgbClr val="242424"/>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2d0ea17dcf7_0_40"/>
          <p:cNvSpPr txBox="1"/>
          <p:nvPr>
            <p:ph idx="1" type="body"/>
          </p:nvPr>
        </p:nvSpPr>
        <p:spPr>
          <a:xfrm>
            <a:off x="311700" y="35047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97826"/>
              </a:lnSpc>
              <a:spcBef>
                <a:spcPts val="4500"/>
              </a:spcBef>
              <a:spcAft>
                <a:spcPts val="0"/>
              </a:spcAft>
              <a:buSzPts val="1800"/>
              <a:buNone/>
            </a:pPr>
            <a:r>
              <a:rPr b="1" lang="en" sz="1500" u="sng"/>
              <a:t>External Communication:</a:t>
            </a:r>
            <a:endParaRPr b="1" u="sng">
              <a:solidFill>
                <a:srgbClr val="242424"/>
              </a:solidFill>
              <a:highlight>
                <a:srgbClr val="FFFFFF"/>
              </a:highlight>
              <a:latin typeface="Arial"/>
              <a:ea typeface="Arial"/>
              <a:cs typeface="Arial"/>
              <a:sym typeface="Arial"/>
            </a:endParaRPr>
          </a:p>
          <a:p>
            <a:pPr indent="0" lvl="0" marL="0" rtl="0" algn="l">
              <a:lnSpc>
                <a:spcPct val="218181"/>
              </a:lnSpc>
              <a:spcBef>
                <a:spcPts val="1400"/>
              </a:spcBef>
              <a:spcAft>
                <a:spcPts val="0"/>
              </a:spcAft>
              <a:buClr>
                <a:srgbClr val="000000"/>
              </a:buClr>
              <a:buSzPts val="1800"/>
              <a:buFont typeface="Arial"/>
              <a:buNone/>
            </a:pPr>
            <a:r>
              <a:rPr lang="en" sz="1500"/>
              <a:t>Pods often need to communicate with resources outside the Kubernetes cluster, such as external services or databases. Kubernetes provides several mechanisms to facilitate this external communication. One approach is to expose a pod or a set of pods using a service of type “LoadBalancer” or “NodePort,” allowing external clients to access the pods. Another option is to use an Ingress controller, which provides a way to route incoming traffic from outside the cluster to the appropriate pods based on defined rules.</a:t>
            </a:r>
            <a:endParaRPr sz="1500">
              <a:solidFill>
                <a:srgbClr val="242424"/>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g2d0ea17dcf7_0_50"/>
          <p:cNvPicPr preferRelativeResize="0"/>
          <p:nvPr/>
        </p:nvPicPr>
        <p:blipFill rotWithShape="1">
          <a:blip r:embed="rId3">
            <a:alphaModFix/>
          </a:blip>
          <a:srcRect b="0" l="0" r="0" t="0"/>
          <a:stretch/>
        </p:blipFill>
        <p:spPr>
          <a:xfrm>
            <a:off x="453125" y="534877"/>
            <a:ext cx="8016801" cy="38024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Pods Example</a:t>
            </a:r>
            <a:endParaRPr/>
          </a:p>
        </p:txBody>
      </p:sp>
      <p:sp>
        <p:nvSpPr>
          <p:cNvPr id="265" name="Google Shape;265;p2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kubectl run nginx --image=nginx:1.15.12-alpine --generator=run-pod/v1</a:t>
            </a:r>
            <a:endParaRPr/>
          </a:p>
          <a:p>
            <a:pPr indent="-342900" lvl="0" marL="457200" rtl="0" algn="l">
              <a:lnSpc>
                <a:spcPct val="115000"/>
              </a:lnSpc>
              <a:spcBef>
                <a:spcPts val="0"/>
              </a:spcBef>
              <a:spcAft>
                <a:spcPts val="0"/>
              </a:spcAft>
              <a:buSzPts val="1800"/>
              <a:buAutoNum type="arabicPeriod"/>
            </a:pPr>
            <a:r>
              <a:rPr lang="en"/>
              <a:t>kubectl run redis --image=redis:5.0.4-alpine --generator=run-pod/v1</a:t>
            </a:r>
            <a:endParaRPr/>
          </a:p>
          <a:p>
            <a:pPr indent="-342900" lvl="0" marL="457200" rtl="0" algn="l">
              <a:lnSpc>
                <a:spcPct val="115000"/>
              </a:lnSpc>
              <a:spcBef>
                <a:spcPts val="0"/>
              </a:spcBef>
              <a:spcAft>
                <a:spcPts val="0"/>
              </a:spcAft>
              <a:buSzPts val="1800"/>
              <a:buAutoNum type="arabicPeriod"/>
            </a:pPr>
            <a:r>
              <a:rPr lang="en"/>
              <a:t>kubectl logs redis</a:t>
            </a:r>
            <a:endParaRPr/>
          </a:p>
          <a:p>
            <a:pPr indent="-342900" lvl="0" marL="457200" rtl="0" algn="l">
              <a:lnSpc>
                <a:spcPct val="115000"/>
              </a:lnSpc>
              <a:spcBef>
                <a:spcPts val="0"/>
              </a:spcBef>
              <a:spcAft>
                <a:spcPts val="0"/>
              </a:spcAft>
              <a:buSzPts val="1800"/>
              <a:buAutoNum type="arabicPeriod"/>
            </a:pPr>
            <a:r>
              <a:rPr lang="en"/>
              <a:t>kubectl describe pod redis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Deployments</a:t>
            </a:r>
            <a:endParaRPr/>
          </a:p>
        </p:txBody>
      </p:sp>
      <p:sp>
        <p:nvSpPr>
          <p:cNvPr id="271" name="Google Shape;271;p2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Deployment controller provides declarative updates for Pods and ReplicaSets. </a:t>
            </a:r>
            <a:endParaRPr/>
          </a:p>
          <a:p>
            <a:pPr indent="-342900" lvl="0" marL="457200" rtl="0" algn="l">
              <a:lnSpc>
                <a:spcPct val="115000"/>
              </a:lnSpc>
              <a:spcBef>
                <a:spcPts val="0"/>
              </a:spcBef>
              <a:spcAft>
                <a:spcPts val="0"/>
              </a:spcAft>
              <a:buSzPts val="1800"/>
              <a:buChar char="●"/>
            </a:pPr>
            <a:r>
              <a:rPr lang="en"/>
              <a:t>You describe a desired state in a Deployment object, and the Deployment controller changes the actual state to the desired state at a controlled rate. </a:t>
            </a:r>
            <a:endParaRPr/>
          </a:p>
          <a:p>
            <a:pPr indent="-342900" lvl="0" marL="457200" rtl="0" algn="l">
              <a:lnSpc>
                <a:spcPct val="115000"/>
              </a:lnSpc>
              <a:spcBef>
                <a:spcPts val="0"/>
              </a:spcBef>
              <a:spcAft>
                <a:spcPts val="0"/>
              </a:spcAft>
              <a:buSzPts val="1800"/>
              <a:buChar char="●"/>
            </a:pPr>
            <a:r>
              <a:rPr lang="en"/>
              <a:t>You can define Deployments to create new ReplicaSets, or to remove existing Deployments and adopt all their resources with new Deployments.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Deployments</a:t>
            </a:r>
            <a:endParaRPr/>
          </a:p>
        </p:txBody>
      </p:sp>
      <p:sp>
        <p:nvSpPr>
          <p:cNvPr id="277" name="Google Shape;277;p2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The following are typical use cases for Deployments: </a:t>
            </a:r>
            <a:endParaRPr/>
          </a:p>
          <a:p>
            <a:pPr indent="-317500" lvl="1" marL="914400" rtl="0" algn="l">
              <a:lnSpc>
                <a:spcPct val="115000"/>
              </a:lnSpc>
              <a:spcBef>
                <a:spcPts val="0"/>
              </a:spcBef>
              <a:spcAft>
                <a:spcPts val="0"/>
              </a:spcAft>
              <a:buSzPts val="1400"/>
              <a:buChar char="○"/>
            </a:pPr>
            <a:r>
              <a:rPr lang="en"/>
              <a:t>Create a Deployment to rollout a ReplicaSet. </a:t>
            </a:r>
            <a:endParaRPr/>
          </a:p>
          <a:p>
            <a:pPr indent="-317500" lvl="1" marL="914400" rtl="0" algn="l">
              <a:lnSpc>
                <a:spcPct val="115000"/>
              </a:lnSpc>
              <a:spcBef>
                <a:spcPts val="0"/>
              </a:spcBef>
              <a:spcAft>
                <a:spcPts val="0"/>
              </a:spcAft>
              <a:buSzPts val="1400"/>
              <a:buChar char="○"/>
            </a:pPr>
            <a:r>
              <a:rPr lang="en"/>
              <a:t>Change the state of pods group </a:t>
            </a:r>
            <a:endParaRPr/>
          </a:p>
          <a:p>
            <a:pPr indent="-317500" lvl="1" marL="914400" rtl="0" algn="l">
              <a:lnSpc>
                <a:spcPct val="115000"/>
              </a:lnSpc>
              <a:spcBef>
                <a:spcPts val="0"/>
              </a:spcBef>
              <a:spcAft>
                <a:spcPts val="0"/>
              </a:spcAft>
              <a:buSzPts val="1400"/>
              <a:buChar char="○"/>
            </a:pPr>
            <a:r>
              <a:rPr lang="en"/>
              <a:t>Rollback to an earlier Deployment revision if the current state of the Deployment is not stable. </a:t>
            </a:r>
            <a:endParaRPr/>
          </a:p>
          <a:p>
            <a:pPr indent="-317500" lvl="1" marL="914400" rtl="0" algn="l">
              <a:lnSpc>
                <a:spcPct val="115000"/>
              </a:lnSpc>
              <a:spcBef>
                <a:spcPts val="0"/>
              </a:spcBef>
              <a:spcAft>
                <a:spcPts val="0"/>
              </a:spcAft>
              <a:buSzPts val="1400"/>
              <a:buChar char="○"/>
            </a:pPr>
            <a:r>
              <a:rPr lang="en"/>
              <a:t>Scale up the Deployment to facilitate more load. </a:t>
            </a:r>
            <a:endParaRPr/>
          </a:p>
          <a:p>
            <a:pPr indent="-317500" lvl="1" marL="914400" rtl="0" algn="l">
              <a:lnSpc>
                <a:spcPct val="115000"/>
              </a:lnSpc>
              <a:spcBef>
                <a:spcPts val="0"/>
              </a:spcBef>
              <a:spcAft>
                <a:spcPts val="0"/>
              </a:spcAft>
              <a:buSzPts val="1400"/>
              <a:buChar char="○"/>
            </a:pPr>
            <a:r>
              <a:rPr lang="en"/>
              <a:t>Use the status of the Deployment as an indicator that a rollout has stuck. </a:t>
            </a:r>
            <a:endParaRPr/>
          </a:p>
          <a:p>
            <a:pPr indent="-317500" lvl="1" marL="914400" rtl="0" algn="l">
              <a:lnSpc>
                <a:spcPct val="115000"/>
              </a:lnSpc>
              <a:spcBef>
                <a:spcPts val="0"/>
              </a:spcBef>
              <a:spcAft>
                <a:spcPts val="0"/>
              </a:spcAft>
              <a:buSzPts val="1400"/>
              <a:buChar char="○"/>
            </a:pPr>
            <a:r>
              <a:rPr lang="en"/>
              <a:t>Clean up older ReplicaSets that you don’t need anymore.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2d0ea17dcf7_0_56"/>
          <p:cNvSpPr txBox="1"/>
          <p:nvPr>
            <p:ph idx="1" type="body"/>
          </p:nvPr>
        </p:nvSpPr>
        <p:spPr>
          <a:xfrm>
            <a:off x="246100" y="19807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t>Deployment is a higher-level resource that helps manage the lifecycle of your pods. While you could directly create and manage pods on their own, using Deployments provides several advantages:</a:t>
            </a:r>
            <a:endParaRPr sz="1200">
              <a:solidFill>
                <a:srgbClr val="0D0D0D"/>
              </a:solidFill>
              <a:highlight>
                <a:srgbClr val="FFFFFF"/>
              </a:highlight>
              <a:latin typeface="Roboto"/>
              <a:ea typeface="Roboto"/>
              <a:cs typeface="Roboto"/>
              <a:sym typeface="Roboto"/>
            </a:endParaRPr>
          </a:p>
          <a:p>
            <a:pPr indent="0" lvl="0" marL="457200" rtl="0" algn="l">
              <a:lnSpc>
                <a:spcPct val="115000"/>
              </a:lnSpc>
              <a:spcBef>
                <a:spcPts val="1500"/>
              </a:spcBef>
              <a:spcAft>
                <a:spcPts val="0"/>
              </a:spcAft>
              <a:buSzPts val="1800"/>
              <a:buNone/>
            </a:pPr>
            <a:r>
              <a:rPr b="1" lang="en" sz="1400" u="sng"/>
              <a:t>Replica Management:</a:t>
            </a:r>
            <a:r>
              <a:rPr lang="en" sz="1200">
                <a:solidFill>
                  <a:srgbClr val="0D0D0D"/>
                </a:solidFill>
                <a:highlight>
                  <a:srgbClr val="FFFFFF"/>
                </a:highlight>
                <a:latin typeface="Roboto"/>
                <a:ea typeface="Roboto"/>
                <a:cs typeface="Roboto"/>
                <a:sym typeface="Roboto"/>
              </a:rPr>
              <a:t> </a:t>
            </a:r>
            <a:r>
              <a:rPr lang="en" sz="1400"/>
              <a:t>Deployments allow you to specify the desired number of replicas for your pods. Kubernetes ensures that the specified number of pod replicas are always running, automatically creating or deleting pods as needed to maintain the desired state. This helps with scalability and high availability of your applications.</a:t>
            </a:r>
            <a:endParaRPr sz="1200">
              <a:solidFill>
                <a:srgbClr val="0D0D0D"/>
              </a:solidFill>
              <a:highlight>
                <a:srgbClr val="FFFFFF"/>
              </a:highlight>
              <a:latin typeface="Roboto"/>
              <a:ea typeface="Roboto"/>
              <a:cs typeface="Roboto"/>
              <a:sym typeface="Roboto"/>
            </a:endParaRPr>
          </a:p>
          <a:p>
            <a:pPr indent="0" lvl="0" marL="457200" rtl="0" algn="l">
              <a:lnSpc>
                <a:spcPct val="115000"/>
              </a:lnSpc>
              <a:spcBef>
                <a:spcPts val="0"/>
              </a:spcBef>
              <a:spcAft>
                <a:spcPts val="0"/>
              </a:spcAft>
              <a:buSzPts val="1800"/>
              <a:buNone/>
            </a:pPr>
            <a:r>
              <a:t/>
            </a:r>
            <a:endParaRPr b="1" sz="1400" u="sng"/>
          </a:p>
          <a:p>
            <a:pPr indent="0" lvl="0" marL="457200" rtl="0" algn="l">
              <a:lnSpc>
                <a:spcPct val="115000"/>
              </a:lnSpc>
              <a:spcBef>
                <a:spcPts val="0"/>
              </a:spcBef>
              <a:spcAft>
                <a:spcPts val="0"/>
              </a:spcAft>
              <a:buSzPts val="1800"/>
              <a:buNone/>
            </a:pPr>
            <a:r>
              <a:rPr b="1" lang="en" sz="1400" u="sng"/>
              <a:t>Rolling Updates and Rollbacks: </a:t>
            </a:r>
            <a:r>
              <a:rPr lang="en" sz="1400"/>
              <a:t>Deployments support rolling updates, allowing you to change the pod template (e.g., update container image versions) without causing downtime. Kubernetes gradually replaces old pods with new ones, ensuring that your application remains available during the update process. If something goes wrong during an update, Deployments also support automatic or manual rollbacks to a previous stable version.</a:t>
            </a:r>
            <a:endParaRPr sz="1200">
              <a:solidFill>
                <a:srgbClr val="0D0D0D"/>
              </a:solidFill>
              <a:highlight>
                <a:srgbClr val="FFFFFF"/>
              </a:highlight>
              <a:latin typeface="Roboto"/>
              <a:ea typeface="Roboto"/>
              <a:cs typeface="Roboto"/>
              <a:sym typeface="Roboto"/>
            </a:endParaRPr>
          </a:p>
          <a:p>
            <a:pPr indent="0" lvl="0" marL="457200" rtl="0" algn="l">
              <a:lnSpc>
                <a:spcPct val="115000"/>
              </a:lnSpc>
              <a:spcBef>
                <a:spcPts val="0"/>
              </a:spcBef>
              <a:spcAft>
                <a:spcPts val="0"/>
              </a:spcAft>
              <a:buSzPts val="1800"/>
              <a:buNone/>
            </a:pPr>
            <a:r>
              <a:t/>
            </a:r>
            <a:endParaRPr b="1" sz="1400" u="sng"/>
          </a:p>
          <a:p>
            <a:pPr indent="0" lvl="0" marL="457200" rtl="0" algn="l">
              <a:lnSpc>
                <a:spcPct val="115000"/>
              </a:lnSpc>
              <a:spcBef>
                <a:spcPts val="0"/>
              </a:spcBef>
              <a:spcAft>
                <a:spcPts val="0"/>
              </a:spcAft>
              <a:buSzPts val="1800"/>
              <a:buNone/>
            </a:pPr>
            <a:r>
              <a:rPr b="1" lang="en" sz="1400" u="sng"/>
              <a:t>Declarative Configuration:</a:t>
            </a:r>
            <a:r>
              <a:rPr lang="en" sz="1400"/>
              <a:t> With Deployments, you define the desired state of your application (e.g., number of replicas, container images, resource limits) in a declarative YAML file. Kubernetes then continuously reconciles the actual state with the desired state, making necessary adjustments to achieve the desired state.</a:t>
            </a:r>
            <a:endParaRPr sz="1200">
              <a:solidFill>
                <a:srgbClr val="0D0D0D"/>
              </a:solidFill>
              <a:highlight>
                <a:srgbClr val="FFFFFF"/>
              </a:highlight>
              <a:latin typeface="Roboto"/>
              <a:ea typeface="Roboto"/>
              <a:cs typeface="Roboto"/>
              <a:sym typeface="Roboto"/>
            </a:endParaRPr>
          </a:p>
          <a:p>
            <a:pPr indent="0" lvl="0" marL="457200" rtl="0" algn="l">
              <a:lnSpc>
                <a:spcPct val="115000"/>
              </a:lnSpc>
              <a:spcBef>
                <a:spcPts val="0"/>
              </a:spcBef>
              <a:spcAft>
                <a:spcPts val="0"/>
              </a:spcAft>
              <a:buSzPts val="1800"/>
              <a:buNone/>
            </a:pPr>
            <a:r>
              <a:t/>
            </a:r>
            <a:endParaRPr b="1" sz="1400" u="sng"/>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23340ff972_0_0"/>
          <p:cNvSpPr txBox="1"/>
          <p:nvPr>
            <p:ph idx="1" type="body"/>
          </p:nvPr>
        </p:nvSpPr>
        <p:spPr>
          <a:xfrm>
            <a:off x="311700" y="503550"/>
            <a:ext cx="8520600" cy="33027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800"/>
              <a:buNone/>
            </a:pPr>
            <a:r>
              <a:rPr b="1" lang="en" sz="1400" u="sng"/>
              <a:t>Health Checks and Self-Healing:</a:t>
            </a:r>
            <a:r>
              <a:rPr lang="en" sz="1400"/>
              <a:t> Deployments support configurable health checks (readiness and liveness probes) for your pods. Kubernetes regularly checks the health of pods based on these probes and automatically restarts or replaces unhealthy pods to maintain the desired state of your application</a:t>
            </a:r>
            <a:r>
              <a:rPr lang="en" sz="1200">
                <a:solidFill>
                  <a:srgbClr val="0D0D0D"/>
                </a:solidFill>
                <a:highlight>
                  <a:schemeClr val="lt1"/>
                </a:highlight>
                <a:latin typeface="Roboto"/>
                <a:ea typeface="Roboto"/>
                <a:cs typeface="Roboto"/>
                <a:sym typeface="Roboto"/>
              </a:rPr>
              <a:t>.</a:t>
            </a:r>
            <a:endParaRPr sz="1200">
              <a:solidFill>
                <a:srgbClr val="0D0D0D"/>
              </a:solidFill>
              <a:highlight>
                <a:schemeClr val="lt1"/>
              </a:highlight>
              <a:latin typeface="Roboto"/>
              <a:ea typeface="Roboto"/>
              <a:cs typeface="Roboto"/>
              <a:sym typeface="Roboto"/>
            </a:endParaRPr>
          </a:p>
          <a:p>
            <a:pPr indent="0" lvl="0" marL="457200" rtl="0" algn="l">
              <a:lnSpc>
                <a:spcPct val="115000"/>
              </a:lnSpc>
              <a:spcBef>
                <a:spcPts val="0"/>
              </a:spcBef>
              <a:spcAft>
                <a:spcPts val="0"/>
              </a:spcAft>
              <a:buSzPts val="1800"/>
              <a:buNone/>
            </a:pPr>
            <a:r>
              <a:t/>
            </a:r>
            <a:endParaRPr b="1" sz="1400" u="sng"/>
          </a:p>
          <a:p>
            <a:pPr indent="0" lvl="0" marL="457200" rtl="0" algn="l">
              <a:lnSpc>
                <a:spcPct val="115000"/>
              </a:lnSpc>
              <a:spcBef>
                <a:spcPts val="0"/>
              </a:spcBef>
              <a:spcAft>
                <a:spcPts val="0"/>
              </a:spcAft>
              <a:buSzPts val="1800"/>
              <a:buNone/>
            </a:pPr>
            <a:r>
              <a:rPr b="1" lang="en" sz="1400" u="sng"/>
              <a:t>Scaling:</a:t>
            </a:r>
            <a:r>
              <a:rPr lang="en" sz="1400"/>
              <a:t> Deployments allow you to easily scale your application up or down by adjusting the number of replicas. You can manually scale your application based on demand, or use tools like Horizontal Pod Autoscaler (HPA) to automatically scale your application based on CPU or custom metrics.</a:t>
            </a:r>
            <a:endParaRPr sz="1200">
              <a:solidFill>
                <a:srgbClr val="0D0D0D"/>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2d0ea17dcf7_0_62"/>
          <p:cNvSpPr txBox="1"/>
          <p:nvPr>
            <p:ph idx="1" type="body"/>
          </p:nvPr>
        </p:nvSpPr>
        <p:spPr>
          <a:xfrm>
            <a:off x="253075" y="152650"/>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75000"/>
              </a:lnSpc>
              <a:spcBef>
                <a:spcPts val="0"/>
              </a:spcBef>
              <a:spcAft>
                <a:spcPts val="0"/>
              </a:spcAft>
              <a:buSzPts val="1800"/>
              <a:buNone/>
            </a:pPr>
            <a:r>
              <a:rPr b="1" lang="en" sz="1600"/>
              <a:t>While you can use pods without Deployments in Kubernetes, it's generally not recommended for several reasons:</a:t>
            </a:r>
            <a:endParaRPr b="1" sz="1600"/>
          </a:p>
          <a:p>
            <a:pPr indent="0" lvl="0" marL="0" rtl="0" algn="l">
              <a:lnSpc>
                <a:spcPct val="115000"/>
              </a:lnSpc>
              <a:spcBef>
                <a:spcPts val="1500"/>
              </a:spcBef>
              <a:spcAft>
                <a:spcPts val="0"/>
              </a:spcAft>
              <a:buSzPts val="1800"/>
              <a:buNone/>
            </a:pPr>
            <a:r>
              <a:rPr b="1" lang="en" sz="1600" u="sng"/>
              <a:t>Limited Lifecycle Management:</a:t>
            </a:r>
            <a:r>
              <a:rPr lang="en" sz="1600"/>
              <a:t> Pods created directly without a Deployment lack the lifecycle management features provided by Deployments. Deployments ensure that a specified number of pod replicas are running, manage rolling updates, and support automatic rollbacks in case of failures.</a:t>
            </a:r>
            <a:endParaRPr sz="1600"/>
          </a:p>
          <a:p>
            <a:pPr indent="0" lvl="0" marL="0" rtl="0" algn="l">
              <a:lnSpc>
                <a:spcPct val="115000"/>
              </a:lnSpc>
              <a:spcBef>
                <a:spcPts val="0"/>
              </a:spcBef>
              <a:spcAft>
                <a:spcPts val="0"/>
              </a:spcAft>
              <a:buSzPts val="1800"/>
              <a:buNone/>
            </a:pPr>
            <a:r>
              <a:t/>
            </a:r>
            <a:endParaRPr b="1" sz="1600" u="sng"/>
          </a:p>
          <a:p>
            <a:pPr indent="0" lvl="0" marL="0" rtl="0" algn="l">
              <a:lnSpc>
                <a:spcPct val="115000"/>
              </a:lnSpc>
              <a:spcBef>
                <a:spcPts val="0"/>
              </a:spcBef>
              <a:spcAft>
                <a:spcPts val="0"/>
              </a:spcAft>
              <a:buSzPts val="1800"/>
              <a:buNone/>
            </a:pPr>
            <a:r>
              <a:rPr b="1" lang="en" sz="1600" u="sng"/>
              <a:t>Scalability Challenges:</a:t>
            </a:r>
            <a:r>
              <a:rPr lang="en" sz="1600"/>
              <a:t> Managing individual pods manually can be cumbersome, especially when it comes to scaling your application. With Deployments, you can easily scale your application up or down by adjusting the replica count, and Kubernetes takes care of creating or deleting pods accordingly. Without Deployments, you'd need to handle scaling manually.</a:t>
            </a:r>
            <a:endParaRPr sz="1600"/>
          </a:p>
          <a:p>
            <a:pPr indent="0" lvl="0" marL="0" rtl="0" algn="l">
              <a:lnSpc>
                <a:spcPct val="115000"/>
              </a:lnSpc>
              <a:spcBef>
                <a:spcPts val="0"/>
              </a:spcBef>
              <a:spcAft>
                <a:spcPts val="0"/>
              </a:spcAft>
              <a:buSzPts val="1800"/>
              <a:buNone/>
            </a:pPr>
            <a:r>
              <a:t/>
            </a:r>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2d0ea17dcf7_0_68"/>
          <p:cNvSpPr txBox="1"/>
          <p:nvPr>
            <p:ph idx="1" type="body"/>
          </p:nvPr>
        </p:nvSpPr>
        <p:spPr>
          <a:xfrm>
            <a:off x="275050" y="101350"/>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u="sng"/>
              <a:t>Resilience and High Availability:</a:t>
            </a:r>
            <a:r>
              <a:rPr lang="en" sz="1600"/>
              <a:t> Deployments provide built-in resilience and high availability features. They automatically replace failed pods, distribute pod replicas across different nodes for fault tolerance, and support rolling updates without causing downtime. Managing these aspects manually for individual pods is error-prone and less efficient.</a:t>
            </a:r>
            <a:endParaRPr sz="1600"/>
          </a:p>
          <a:p>
            <a:pPr indent="0" lvl="0" marL="0" rtl="0" algn="l">
              <a:lnSpc>
                <a:spcPct val="115000"/>
              </a:lnSpc>
              <a:spcBef>
                <a:spcPts val="0"/>
              </a:spcBef>
              <a:spcAft>
                <a:spcPts val="0"/>
              </a:spcAft>
              <a:buSzPts val="1800"/>
              <a:buNone/>
            </a:pPr>
            <a:r>
              <a:rPr b="1" lang="en" sz="1600" u="sng"/>
              <a:t>Declarative Configuration: </a:t>
            </a:r>
            <a:r>
              <a:rPr lang="en" sz="1600"/>
              <a:t>Deployments allow you to define the desired state of your application in a declarative YAML file. Kubernetes continuously reconciles the actual state with the desired state defined in the Deployment, ensuring that your application remains in the desired state. This declarative approach simplifies management and reduces the risk of misconfiguration.</a:t>
            </a:r>
            <a:endParaRPr sz="1600"/>
          </a:p>
          <a:p>
            <a:pPr indent="0" lvl="0" marL="0" rtl="0" algn="l">
              <a:lnSpc>
                <a:spcPct val="115000"/>
              </a:lnSpc>
              <a:spcBef>
                <a:spcPts val="0"/>
              </a:spcBef>
              <a:spcAft>
                <a:spcPts val="0"/>
              </a:spcAft>
              <a:buSzPts val="1800"/>
              <a:buNone/>
            </a:pPr>
            <a:r>
              <a:rPr b="1" lang="en" sz="1600" u="sng"/>
              <a:t>Ease of Management:</a:t>
            </a:r>
            <a:r>
              <a:rPr lang="en" sz="1600" u="sng"/>
              <a:t> </a:t>
            </a:r>
            <a:r>
              <a:rPr lang="en" sz="1600"/>
              <a:t>Deployments provide a higher level of abstraction for managing applications in Kubernetes. They encapsulate the deployment strategy, desired state, and lifecycle management logic, making it easier to manage and operate containerized applications.</a:t>
            </a:r>
            <a:endParaRPr sz="1600"/>
          </a:p>
          <a:p>
            <a:pPr indent="0" lvl="0" marL="0" rtl="0" algn="l">
              <a:lnSpc>
                <a:spcPct val="175000"/>
              </a:lnSpc>
              <a:spcBef>
                <a:spcPts val="150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2d0ea17dcf7_0_73"/>
          <p:cNvSpPr txBox="1"/>
          <p:nvPr>
            <p:ph idx="1" type="body"/>
          </p:nvPr>
        </p:nvSpPr>
        <p:spPr>
          <a:xfrm>
            <a:off x="245775" y="1746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sz="1600"/>
              <a:t>Using pods without Deployments in Kubernetes means sacrificing essential features like lifecycle management, scalability, resilience, and ease of management. Deployments provide automation, scalability, and resilience, making them the preferred choice for managing containerized applications in Kubernetes production environments.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2d0ea17dcf7_0_85"/>
          <p:cNvSpPr txBox="1"/>
          <p:nvPr>
            <p:ph idx="1" type="body"/>
          </p:nvPr>
        </p:nvSpPr>
        <p:spPr>
          <a:xfrm>
            <a:off x="311700" y="198850"/>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800"/>
              <a:buNone/>
            </a:pPr>
            <a:r>
              <a:rPr b="1" lang="en" sz="3600">
                <a:solidFill>
                  <a:schemeClr val="accent1"/>
                </a:solidFill>
                <a:latin typeface="PT Sans Narrow"/>
                <a:ea typeface="PT Sans Narrow"/>
                <a:cs typeface="PT Sans Narrow"/>
                <a:sym typeface="PT Sans Narrow"/>
              </a:rPr>
              <a:t>DaemonSet</a:t>
            </a:r>
            <a:endParaRPr b="1" sz="2300">
              <a:solidFill>
                <a:srgbClr val="222222"/>
              </a:solidFill>
              <a:highlight>
                <a:srgbClr val="FFFFFF"/>
              </a:highlight>
            </a:endParaRPr>
          </a:p>
          <a:p>
            <a:pPr indent="0" lvl="0" marL="0" rtl="0" algn="l">
              <a:lnSpc>
                <a:spcPct val="115000"/>
              </a:lnSpc>
              <a:spcBef>
                <a:spcPts val="600"/>
              </a:spcBef>
              <a:spcAft>
                <a:spcPts val="0"/>
              </a:spcAft>
              <a:buSzPts val="1800"/>
              <a:buNone/>
            </a:pPr>
            <a:r>
              <a:rPr lang="en" sz="1600"/>
              <a:t>A DaemonSet ensures that all (or some) Nodes run a copy of a Pod. As nodes are added to the cluster, Pods are added to them. As nodes are removed from the cluster, those Pods are garbage collected. Deleting a DaemonSet will clean up the Pods it created.</a:t>
            </a:r>
            <a:endParaRPr sz="1600"/>
          </a:p>
          <a:p>
            <a:pPr indent="0" lvl="0" marL="0" rtl="0" algn="l">
              <a:lnSpc>
                <a:spcPct val="115000"/>
              </a:lnSpc>
              <a:spcBef>
                <a:spcPts val="1200"/>
              </a:spcBef>
              <a:spcAft>
                <a:spcPts val="0"/>
              </a:spcAft>
              <a:buSzPts val="1800"/>
              <a:buNone/>
            </a:pPr>
            <a:r>
              <a:rPr lang="en" sz="1600"/>
              <a:t>Some typical uses of a DaemonSet are:</a:t>
            </a:r>
            <a:endParaRPr sz="1600"/>
          </a:p>
          <a:p>
            <a:pPr indent="-304800" lvl="0" marL="457200" rtl="0" algn="l">
              <a:lnSpc>
                <a:spcPct val="115000"/>
              </a:lnSpc>
              <a:spcBef>
                <a:spcPts val="1200"/>
              </a:spcBef>
              <a:spcAft>
                <a:spcPts val="0"/>
              </a:spcAft>
              <a:buClr>
                <a:srgbClr val="222222"/>
              </a:buClr>
              <a:buSzPts val="1200"/>
              <a:buChar char="●"/>
            </a:pPr>
            <a:r>
              <a:rPr lang="en" sz="1600"/>
              <a:t>running a cluster storage daemon on every node</a:t>
            </a:r>
            <a:endParaRPr sz="1600"/>
          </a:p>
          <a:p>
            <a:pPr indent="-304800" lvl="0" marL="457200" rtl="0" algn="l">
              <a:lnSpc>
                <a:spcPct val="115000"/>
              </a:lnSpc>
              <a:spcBef>
                <a:spcPts val="0"/>
              </a:spcBef>
              <a:spcAft>
                <a:spcPts val="0"/>
              </a:spcAft>
              <a:buClr>
                <a:srgbClr val="222222"/>
              </a:buClr>
              <a:buSzPts val="1200"/>
              <a:buChar char="●"/>
            </a:pPr>
            <a:r>
              <a:rPr lang="en" sz="1600"/>
              <a:t>running a logs collection daemon on every node</a:t>
            </a:r>
            <a:endParaRPr sz="1600"/>
          </a:p>
          <a:p>
            <a:pPr indent="-304800" lvl="0" marL="457200" rtl="0" algn="l">
              <a:lnSpc>
                <a:spcPct val="115000"/>
              </a:lnSpc>
              <a:spcBef>
                <a:spcPts val="0"/>
              </a:spcBef>
              <a:spcAft>
                <a:spcPts val="0"/>
              </a:spcAft>
              <a:buClr>
                <a:srgbClr val="222222"/>
              </a:buClr>
              <a:buSzPts val="1200"/>
              <a:buChar char="●"/>
            </a:pPr>
            <a:r>
              <a:rPr lang="en" sz="1600"/>
              <a:t>running a node monitoring daemon on every node</a:t>
            </a:r>
            <a:endParaRPr sz="1600"/>
          </a:p>
          <a:p>
            <a:pPr indent="0" lvl="0" marL="0" rtl="0" algn="l">
              <a:lnSpc>
                <a:spcPct val="115000"/>
              </a:lnSpc>
              <a:spcBef>
                <a:spcPts val="1200"/>
              </a:spcBef>
              <a:spcAft>
                <a:spcPts val="0"/>
              </a:spcAft>
              <a:buSzPts val="1800"/>
              <a:buNone/>
            </a:pPr>
            <a:r>
              <a:rPr lang="en" sz="1600"/>
              <a:t>In a simple case, one DaemonSet, covering all nodes, would be used for each type of daemon. A more complex setup might use multiple DaemonSets for a single type of daemon, but with different flags and/or different memory and cpu requests for different hardware types. </a:t>
            </a:r>
            <a:r>
              <a:rPr lang="en" sz="1600" u="sng">
                <a:solidFill>
                  <a:schemeClr val="hlink"/>
                </a:solidFill>
                <a:hlinkClick r:id="rId3"/>
              </a:rPr>
              <a:t>DaemonSet Demo</a:t>
            </a:r>
            <a:endParaRPr sz="1600"/>
          </a:p>
          <a:p>
            <a:pPr indent="0" lvl="0" marL="0" rtl="0" algn="l">
              <a:lnSpc>
                <a:spcPct val="115000"/>
              </a:lnSpc>
              <a:spcBef>
                <a:spcPts val="1200"/>
              </a:spcBef>
              <a:spcAft>
                <a:spcPts val="0"/>
              </a:spcAft>
              <a:buSzPts val="1800"/>
              <a:buNone/>
            </a:pPr>
            <a:r>
              <a:t/>
            </a:r>
            <a:endParaRPr sz="1600"/>
          </a:p>
          <a:p>
            <a:pPr indent="0" lvl="0" marL="0" rtl="0" algn="l">
              <a:lnSpc>
                <a:spcPct val="115000"/>
              </a:lnSpc>
              <a:spcBef>
                <a:spcPts val="1200"/>
              </a:spcBef>
              <a:spcAft>
                <a:spcPts val="0"/>
              </a:spcAft>
              <a:buSzPts val="1800"/>
              <a:buNone/>
            </a:pPr>
            <a:r>
              <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Kubernetes Services</a:t>
            </a:r>
            <a:endParaRPr/>
          </a:p>
        </p:txBody>
      </p:sp>
      <p:sp>
        <p:nvSpPr>
          <p:cNvPr id="313" name="Google Shape;313;p2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Kubernetes Service is an abstraction which defines a logical set of Pods and a policy by which to access them - sometimes called a micro-service. </a:t>
            </a:r>
            <a:endParaRPr/>
          </a:p>
          <a:p>
            <a:pPr indent="-342900" lvl="0" marL="457200" rtl="0" algn="l">
              <a:lnSpc>
                <a:spcPct val="115000"/>
              </a:lnSpc>
              <a:spcBef>
                <a:spcPts val="0"/>
              </a:spcBef>
              <a:spcAft>
                <a:spcPts val="0"/>
              </a:spcAft>
              <a:buSzPts val="1800"/>
              <a:buChar char="●"/>
            </a:pPr>
            <a:r>
              <a:rPr lang="en"/>
              <a:t>The set of Pods targeted by a Service is (usually) determined by a Label Selector (see below for why you might want a Service without a selector).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Workloads examples</a:t>
            </a:r>
            <a:endParaRPr/>
          </a:p>
        </p:txBody>
      </p:sp>
      <p:sp>
        <p:nvSpPr>
          <p:cNvPr id="319" name="Google Shape;319;p2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kubectl create deployment hello-node --image=gcr.io/hello-minikube-zero-install/hello-node</a:t>
            </a:r>
            <a:endParaRPr/>
          </a:p>
          <a:p>
            <a:pPr indent="-342900" lvl="0" marL="457200" rtl="0" algn="l">
              <a:lnSpc>
                <a:spcPct val="115000"/>
              </a:lnSpc>
              <a:spcBef>
                <a:spcPts val="0"/>
              </a:spcBef>
              <a:spcAft>
                <a:spcPts val="0"/>
              </a:spcAft>
              <a:buSzPts val="1800"/>
              <a:buAutoNum type="arabicPeriod"/>
            </a:pPr>
            <a:r>
              <a:rPr lang="en"/>
              <a:t>kubectl get deployments</a:t>
            </a:r>
            <a:endParaRPr/>
          </a:p>
          <a:p>
            <a:pPr indent="-342900" lvl="0" marL="457200" rtl="0" algn="l">
              <a:lnSpc>
                <a:spcPct val="115000"/>
              </a:lnSpc>
              <a:spcBef>
                <a:spcPts val="0"/>
              </a:spcBef>
              <a:spcAft>
                <a:spcPts val="0"/>
              </a:spcAft>
              <a:buSzPts val="1800"/>
              <a:buAutoNum type="arabicPeriod"/>
            </a:pPr>
            <a:r>
              <a:rPr lang="en"/>
              <a:t>kubectl describe deployment hello-node</a:t>
            </a:r>
            <a:endParaRPr/>
          </a:p>
          <a:p>
            <a:pPr indent="-342900" lvl="0" marL="457200" rtl="0" algn="l">
              <a:lnSpc>
                <a:spcPct val="115000"/>
              </a:lnSpc>
              <a:spcBef>
                <a:spcPts val="0"/>
              </a:spcBef>
              <a:spcAft>
                <a:spcPts val="0"/>
              </a:spcAft>
              <a:buSzPts val="1800"/>
              <a:buAutoNum type="arabicPeriod"/>
            </a:pPr>
            <a:r>
              <a:rPr lang="en"/>
              <a:t>kubectl get pods</a:t>
            </a:r>
            <a:endParaRPr/>
          </a:p>
          <a:p>
            <a:pPr indent="-342900" lvl="0" marL="457200" rtl="0" algn="l">
              <a:lnSpc>
                <a:spcPct val="115000"/>
              </a:lnSpc>
              <a:spcBef>
                <a:spcPts val="0"/>
              </a:spcBef>
              <a:spcAft>
                <a:spcPts val="0"/>
              </a:spcAft>
              <a:buSzPts val="1800"/>
              <a:buAutoNum type="arabicPeriod"/>
            </a:pPr>
            <a:r>
              <a:rPr lang="en"/>
              <a:t>kubectl scale deployment/hello-node --replicas=3</a:t>
            </a:r>
            <a:endParaRPr/>
          </a:p>
          <a:p>
            <a:pPr indent="-342900" lvl="0" marL="457200" rtl="0" algn="l">
              <a:lnSpc>
                <a:spcPct val="115000"/>
              </a:lnSpc>
              <a:spcBef>
                <a:spcPts val="0"/>
              </a:spcBef>
              <a:spcAft>
                <a:spcPts val="0"/>
              </a:spcAft>
              <a:buSzPts val="1800"/>
              <a:buAutoNum type="arabicPeriod"/>
            </a:pPr>
            <a:r>
              <a:rPr lang="en"/>
              <a:t>kubectl get all </a:t>
            </a:r>
            <a:endParaRPr/>
          </a:p>
          <a:p>
            <a:pPr indent="-342900" lvl="0" marL="457200" rtl="0" algn="l">
              <a:lnSpc>
                <a:spcPct val="115000"/>
              </a:lnSpc>
              <a:spcBef>
                <a:spcPts val="0"/>
              </a:spcBef>
              <a:spcAft>
                <a:spcPts val="0"/>
              </a:spcAft>
              <a:buSzPts val="1800"/>
              <a:buAutoNum type="arabicPeriod"/>
            </a:pPr>
            <a:r>
              <a:rPr lang="en"/>
              <a:t>kubectl expose deployment hello-node --type=ClusterIP --port=8080</a:t>
            </a:r>
            <a:endParaRPr/>
          </a:p>
          <a:p>
            <a:pPr indent="-342900" lvl="0" marL="457200" rtl="0" algn="l">
              <a:lnSpc>
                <a:spcPct val="115000"/>
              </a:lnSpc>
              <a:spcBef>
                <a:spcPts val="0"/>
              </a:spcBef>
              <a:spcAft>
                <a:spcPts val="0"/>
              </a:spcAft>
              <a:buSzPts val="1800"/>
              <a:buAutoNum type="arabicPeriod"/>
            </a:pPr>
            <a:r>
              <a:rPr lang="en"/>
              <a:t>kubectl get services</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Declarative Workloads Examples</a:t>
            </a:r>
            <a:endParaRPr/>
          </a:p>
        </p:txBody>
      </p:sp>
      <p:sp>
        <p:nvSpPr>
          <p:cNvPr id="325" name="Google Shape;325;p2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Clone </a:t>
            </a:r>
            <a:r>
              <a:rPr lang="en" u="sng">
                <a:solidFill>
                  <a:schemeClr val="hlink"/>
                </a:solidFill>
                <a:hlinkClick r:id="rId3"/>
              </a:rPr>
              <a:t>https://github.com/avielb/k8s-demo.git</a:t>
            </a:r>
            <a:endParaRPr/>
          </a:p>
          <a:p>
            <a:pPr indent="-342900" lvl="0" marL="457200" rtl="0" algn="l">
              <a:lnSpc>
                <a:spcPct val="115000"/>
              </a:lnSpc>
              <a:spcBef>
                <a:spcPts val="0"/>
              </a:spcBef>
              <a:spcAft>
                <a:spcPts val="0"/>
              </a:spcAft>
              <a:buSzPts val="1800"/>
              <a:buAutoNum type="arabicPeriod"/>
            </a:pPr>
            <a:r>
              <a:rPr lang="en"/>
              <a:t>cd guestbook/</a:t>
            </a:r>
            <a:endParaRPr/>
          </a:p>
          <a:p>
            <a:pPr indent="-342900" lvl="0" marL="457200" rtl="0" algn="l">
              <a:lnSpc>
                <a:spcPct val="115000"/>
              </a:lnSpc>
              <a:spcBef>
                <a:spcPts val="0"/>
              </a:spcBef>
              <a:spcAft>
                <a:spcPts val="0"/>
              </a:spcAft>
              <a:buSzPts val="1800"/>
              <a:buAutoNum type="arabicPeriod"/>
            </a:pPr>
            <a:r>
              <a:rPr lang="en"/>
              <a:t>kubectl apply -f redis-master-deployment.yaml</a:t>
            </a:r>
            <a:endParaRPr/>
          </a:p>
          <a:p>
            <a:pPr indent="-342900" lvl="0" marL="457200" rtl="0" algn="l">
              <a:lnSpc>
                <a:spcPct val="115000"/>
              </a:lnSpc>
              <a:spcBef>
                <a:spcPts val="0"/>
              </a:spcBef>
              <a:spcAft>
                <a:spcPts val="0"/>
              </a:spcAft>
              <a:buSzPts val="1800"/>
              <a:buAutoNum type="arabicPeriod"/>
            </a:pPr>
            <a:r>
              <a:rPr lang="en"/>
              <a:t>kubectl apply -f redis-master-service.yaml</a:t>
            </a:r>
            <a:endParaRPr/>
          </a:p>
          <a:p>
            <a:pPr indent="-342900" lvl="0" marL="457200" rtl="0" algn="l">
              <a:lnSpc>
                <a:spcPct val="115000"/>
              </a:lnSpc>
              <a:spcBef>
                <a:spcPts val="0"/>
              </a:spcBef>
              <a:spcAft>
                <a:spcPts val="0"/>
              </a:spcAft>
              <a:buSzPts val="1800"/>
              <a:buAutoNum type="arabicPeriod"/>
            </a:pPr>
            <a:r>
              <a:rPr lang="en"/>
              <a:t>kubectl apply -f redis-slave-deployment.yaml</a:t>
            </a:r>
            <a:endParaRPr/>
          </a:p>
          <a:p>
            <a:pPr indent="-342900" lvl="0" marL="457200" rtl="0" algn="l">
              <a:lnSpc>
                <a:spcPct val="115000"/>
              </a:lnSpc>
              <a:spcBef>
                <a:spcPts val="0"/>
              </a:spcBef>
              <a:spcAft>
                <a:spcPts val="0"/>
              </a:spcAft>
              <a:buSzPts val="1800"/>
              <a:buAutoNum type="arabicPeriod"/>
            </a:pPr>
            <a:r>
              <a:rPr lang="en"/>
              <a:t>kubectl apply -f redis-slave-service.yaml</a:t>
            </a:r>
            <a:endParaRPr/>
          </a:p>
          <a:p>
            <a:pPr indent="-342900" lvl="0" marL="457200" rtl="0" algn="l">
              <a:lnSpc>
                <a:spcPct val="115000"/>
              </a:lnSpc>
              <a:spcBef>
                <a:spcPts val="0"/>
              </a:spcBef>
              <a:spcAft>
                <a:spcPts val="0"/>
              </a:spcAft>
              <a:buSzPts val="1800"/>
              <a:buAutoNum type="arabicPeriod"/>
            </a:pPr>
            <a:r>
              <a:rPr lang="en"/>
              <a:t>kubectl apply -f frontend-deployment.yaml</a:t>
            </a:r>
            <a:endParaRPr/>
          </a:p>
          <a:p>
            <a:pPr indent="-342900" lvl="0" marL="457200" rtl="0" algn="l">
              <a:lnSpc>
                <a:spcPct val="115000"/>
              </a:lnSpc>
              <a:spcBef>
                <a:spcPts val="0"/>
              </a:spcBef>
              <a:spcAft>
                <a:spcPts val="0"/>
              </a:spcAft>
              <a:buSzPts val="1800"/>
              <a:buAutoNum type="arabicPeriod"/>
            </a:pPr>
            <a:r>
              <a:rPr lang="en"/>
              <a:t>kubectl apply -f frontend-service.yaml</a:t>
            </a:r>
            <a:endParaRPr/>
          </a:p>
          <a:p>
            <a:pPr indent="-342900" lvl="0" marL="457200" rtl="0" algn="l">
              <a:lnSpc>
                <a:spcPct val="115000"/>
              </a:lnSpc>
              <a:spcBef>
                <a:spcPts val="0"/>
              </a:spcBef>
              <a:spcAft>
                <a:spcPts val="0"/>
              </a:spcAft>
              <a:buSzPts val="1800"/>
              <a:buAutoNum type="arabicPeriod"/>
            </a:pPr>
            <a:r>
              <a:rPr lang="en"/>
              <a:t>Or just do kubectl apply -f ./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Exercise</a:t>
            </a:r>
            <a:endParaRPr/>
          </a:p>
        </p:txBody>
      </p:sp>
      <p:sp>
        <p:nvSpPr>
          <p:cNvPr id="331" name="Google Shape;331;p2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Deploy a MySQL pod container using the kubectl run command.</a:t>
            </a:r>
            <a:endParaRPr/>
          </a:p>
          <a:p>
            <a:pPr indent="-342900" lvl="0" marL="457200" rtl="0" algn="l">
              <a:lnSpc>
                <a:spcPct val="115000"/>
              </a:lnSpc>
              <a:spcBef>
                <a:spcPts val="0"/>
              </a:spcBef>
              <a:spcAft>
                <a:spcPts val="0"/>
              </a:spcAft>
              <a:buSzPts val="1800"/>
              <a:buAutoNum type="arabicPeriod"/>
            </a:pPr>
            <a:r>
              <a:rPr lang="en"/>
              <a:t>Write a YAML file that deploys MySQL pod container.</a:t>
            </a:r>
            <a:endParaRPr/>
          </a:p>
          <a:p>
            <a:pPr indent="-342900" lvl="0" marL="457200" rtl="0" algn="l">
              <a:lnSpc>
                <a:spcPct val="115000"/>
              </a:lnSpc>
              <a:spcBef>
                <a:spcPts val="0"/>
              </a:spcBef>
              <a:spcAft>
                <a:spcPts val="0"/>
              </a:spcAft>
              <a:buSzPts val="1800"/>
              <a:buAutoNum type="arabicPeriod"/>
            </a:pPr>
            <a:r>
              <a:rPr lang="en"/>
              <a:t>Write a YAML file to setup a service that expose the MySQL pod port (3306) on port 33006 on your machine host.</a:t>
            </a:r>
            <a:endParaRPr/>
          </a:p>
          <a:p>
            <a:pPr indent="-342900" lvl="0" marL="457200" rtl="0" algn="l">
              <a:lnSpc>
                <a:spcPct val="115000"/>
              </a:lnSpc>
              <a:spcBef>
                <a:spcPts val="0"/>
              </a:spcBef>
              <a:spcAft>
                <a:spcPts val="0"/>
              </a:spcAft>
              <a:buSzPts val="1800"/>
              <a:buAutoNum type="arabicPeriod"/>
            </a:pPr>
            <a:r>
              <a:rPr lang="en"/>
              <a:t>Edit the guestbook to deploy 3 redis slave replicas</a:t>
            </a:r>
            <a:endParaRPr/>
          </a:p>
          <a:p>
            <a:pPr indent="-342900" lvl="0" marL="457200" rtl="0" algn="l">
              <a:lnSpc>
                <a:spcPct val="115000"/>
              </a:lnSpc>
              <a:spcBef>
                <a:spcPts val="0"/>
              </a:spcBef>
              <a:spcAft>
                <a:spcPts val="0"/>
              </a:spcAft>
              <a:buSzPts val="1800"/>
              <a:buAutoNum type="arabicPeriod"/>
            </a:pPr>
            <a:r>
              <a:rPr lang="en"/>
              <a:t>Add the following label: </a:t>
            </a:r>
            <a:r>
              <a:rPr b="1" lang="en"/>
              <a:t>appname: guestbook</a:t>
            </a:r>
            <a:endParaRPr b="1"/>
          </a:p>
          <a:p>
            <a:pPr indent="-342900" lvl="0" marL="457200" rtl="0" algn="l">
              <a:lnSpc>
                <a:spcPct val="115000"/>
              </a:lnSpc>
              <a:spcBef>
                <a:spcPts val="0"/>
              </a:spcBef>
              <a:spcAft>
                <a:spcPts val="0"/>
              </a:spcAft>
              <a:buSzPts val="1800"/>
              <a:buAutoNum type="arabicPeriod"/>
            </a:pPr>
            <a:r>
              <a:rPr lang="en"/>
              <a:t>Edit </a:t>
            </a:r>
            <a:r>
              <a:rPr b="1" lang="en"/>
              <a:t>frontend-service.yaml</a:t>
            </a:r>
            <a:r>
              <a:rPr lang="en"/>
              <a:t> to select the frontend deployment by that previous label.</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24ea96cab4_0_5"/>
          <p:cNvSpPr txBox="1"/>
          <p:nvPr>
            <p:ph type="title"/>
          </p:nvPr>
        </p:nvSpPr>
        <p:spPr>
          <a:xfrm>
            <a:off x="286350" y="0"/>
            <a:ext cx="8571300" cy="942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Hands-On with Minikube</a:t>
            </a:r>
            <a:endParaRPr/>
          </a:p>
        </p:txBody>
      </p:sp>
      <p:sp>
        <p:nvSpPr>
          <p:cNvPr id="337" name="Google Shape;337;g324ea96cab4_0_5"/>
          <p:cNvSpPr txBox="1"/>
          <p:nvPr/>
        </p:nvSpPr>
        <p:spPr>
          <a:xfrm>
            <a:off x="914400" y="1371600"/>
            <a:ext cx="7772400" cy="197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 sz="1800">
                <a:solidFill>
                  <a:schemeClr val="dk2"/>
                </a:solidFill>
                <a:latin typeface="Open Sans"/>
                <a:ea typeface="Open Sans"/>
                <a:cs typeface="Open Sans"/>
                <a:sym typeface="Open Sans"/>
              </a:rPr>
              <a:t>1. Set up a Minikube cluster: minikube start</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2. Deploy and scale a basic Nginx deployment:</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create deployment nginx --image=nginx</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scale deployment nginx --replicas=3</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3. Enable Minikube dashboard: minikube dashboard</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4. Access Minikube services: minikube service &lt;service-name&gt;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24ea96cab4_0_12"/>
          <p:cNvSpPr txBox="1"/>
          <p:nvPr>
            <p:ph type="title"/>
          </p:nvPr>
        </p:nvSpPr>
        <p:spPr>
          <a:xfrm>
            <a:off x="286350" y="0"/>
            <a:ext cx="8571300" cy="942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Advanced Deployment Scenarios</a:t>
            </a:r>
            <a:endParaRPr/>
          </a:p>
        </p:txBody>
      </p:sp>
      <p:sp>
        <p:nvSpPr>
          <p:cNvPr id="343" name="Google Shape;343;g324ea96cab4_0_12"/>
          <p:cNvSpPr txBox="1"/>
          <p:nvPr/>
        </p:nvSpPr>
        <p:spPr>
          <a:xfrm>
            <a:off x="914400" y="1371600"/>
            <a:ext cx="77724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sz="1800">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None/>
            </a:pPr>
            <a:r>
              <a:rPr lang="en" sz="1800">
                <a:solidFill>
                  <a:schemeClr val="dk2"/>
                </a:solidFill>
                <a:latin typeface="Open Sans"/>
                <a:ea typeface="Open Sans"/>
                <a:cs typeface="Open Sans"/>
                <a:sym typeface="Open Sans"/>
              </a:rPr>
              <a:t>1. Rolling updates and rollbacks:</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set image deployment/nginx nginx=nginx:1.16 --record</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rollout undo deployment/nginx</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2. Autoscaling deployments using HPA:</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autoscale deployment nginx --cpu-percent=50 --min=1 --max=5</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24ea96cab4_0_19"/>
          <p:cNvSpPr txBox="1"/>
          <p:nvPr>
            <p:ph type="title"/>
          </p:nvPr>
        </p:nvSpPr>
        <p:spPr>
          <a:xfrm>
            <a:off x="332700" y="0"/>
            <a:ext cx="8571300" cy="942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Debugging in Minikube</a:t>
            </a:r>
            <a:endParaRPr/>
          </a:p>
        </p:txBody>
      </p:sp>
      <p:sp>
        <p:nvSpPr>
          <p:cNvPr id="349" name="Google Shape;349;g324ea96cab4_0_19"/>
          <p:cNvSpPr txBox="1"/>
          <p:nvPr/>
        </p:nvSpPr>
        <p:spPr>
          <a:xfrm>
            <a:off x="914400" y="1371600"/>
            <a:ext cx="77724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sz="1800">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None/>
            </a:pPr>
            <a:r>
              <a:rPr lang="en" sz="1800">
                <a:solidFill>
                  <a:schemeClr val="dk2"/>
                </a:solidFill>
                <a:latin typeface="Open Sans"/>
                <a:ea typeface="Open Sans"/>
                <a:cs typeface="Open Sans"/>
                <a:sym typeface="Open Sans"/>
              </a:rPr>
              <a:t>1. Debugging pods using kubectl exec and kubectl logs:</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exec -it &lt;pod-name&gt; -- /bin/bash</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logs &lt;pod-name&gt;</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2. Use port-forwarding for external access:</a:t>
            </a:r>
            <a:br>
              <a:rPr lang="en" sz="1800">
                <a:solidFill>
                  <a:schemeClr val="dk2"/>
                </a:solidFill>
                <a:latin typeface="Open Sans"/>
                <a:ea typeface="Open Sans"/>
                <a:cs typeface="Open Sans"/>
                <a:sym typeface="Open Sans"/>
              </a:rPr>
            </a:br>
            <a:r>
              <a:rPr lang="en" sz="1800">
                <a:solidFill>
                  <a:schemeClr val="dk2"/>
                </a:solidFill>
                <a:latin typeface="Open Sans"/>
                <a:ea typeface="Open Sans"/>
                <a:cs typeface="Open Sans"/>
                <a:sym typeface="Open Sans"/>
              </a:rPr>
              <a:t>   kubectl port-forward &lt;pod-name&gt; 8080:80</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